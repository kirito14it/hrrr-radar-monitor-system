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9b64ab6f7a407e" /><Relationship Type="http://schemas.openxmlformats.org/officeDocument/2006/relationships/extended-properties" Target="/docProps/app.xml" Id="R974b09112fbc48f2" /><Relationship Type="http://schemas.openxmlformats.org/officeDocument/2006/relationships/officeDocument" Target="/ppt/presentation.xml" Id="R918837015458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4cbe5889dc4ca2"/>
  </p:sldMasterIdLst>
  <p:notesMasterIdLst>
    <p:notesMasterId xmlns:r="http://schemas.openxmlformats.org/officeDocument/2006/relationships" r:id="Rbdd1968d42704a9b"/>
  </p:notesMasterIdLst>
  <p:sldIdLst>
    <p:sldId xmlns:r="http://schemas.openxmlformats.org/officeDocument/2006/relationships" id="256" r:id="R774175d98b084db1"/>
    <p:sldId xmlns:r="http://schemas.openxmlformats.org/officeDocument/2006/relationships" id="257" r:id="R8c589dc316c64892"/>
    <p:sldId xmlns:r="http://schemas.openxmlformats.org/officeDocument/2006/relationships" id="258" r:id="R45a2b2f929664bc6"/>
    <p:sldId xmlns:r="http://schemas.openxmlformats.org/officeDocument/2006/relationships" id="259" r:id="R1f90d29660b245bc"/>
    <p:sldId xmlns:r="http://schemas.openxmlformats.org/officeDocument/2006/relationships" id="260" r:id="R85103874dac0474c"/>
    <p:sldId xmlns:r="http://schemas.openxmlformats.org/officeDocument/2006/relationships" id="261" r:id="Re0c6e7a3bd964ed6"/>
    <p:sldId xmlns:r="http://schemas.openxmlformats.org/officeDocument/2006/relationships" id="262" r:id="R3023a6772b1e4181"/>
    <p:sldId xmlns:r="http://schemas.openxmlformats.org/officeDocument/2006/relationships" id="263" r:id="R962c2917b9af46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8454a669b48c4" /><Relationship Type="http://schemas.openxmlformats.org/officeDocument/2006/relationships/slideMaster" Target="/ppt/slideMasters/slideMaster1.xml" Id="Rdb4cbe5889dc4ca2" /><Relationship Type="http://schemas.openxmlformats.org/officeDocument/2006/relationships/notesMaster" Target="/ppt/notesMasters/notesMaster1.xml" Id="Rbdd1968d42704a9b" /><Relationship Type="http://schemas.openxmlformats.org/officeDocument/2006/relationships/presProps" Target="/ppt/presProps.xml" Id="R81dea514d28944ae" /><Relationship Type="http://schemas.openxmlformats.org/officeDocument/2006/relationships/tableStyles" Target="/ppt/tableStyles.xml" Id="R3c391e67ba4c447e" /><Relationship Type="http://schemas.openxmlformats.org/officeDocument/2006/relationships/slide" Target="/ppt/slides/slide1.xml" Id="R774175d98b084db1" /><Relationship Type="http://schemas.openxmlformats.org/officeDocument/2006/relationships/slide" Target="/ppt/slides/slide2.xml" Id="R8c589dc316c64892" /><Relationship Type="http://schemas.openxmlformats.org/officeDocument/2006/relationships/slide" Target="/ppt/slides/slide3.xml" Id="R45a2b2f929664bc6" /><Relationship Type="http://schemas.openxmlformats.org/officeDocument/2006/relationships/slide" Target="/ppt/slides/slide4.xml" Id="R1f90d29660b245bc" /><Relationship Type="http://schemas.openxmlformats.org/officeDocument/2006/relationships/slide" Target="/ppt/slides/slide5.xml" Id="R85103874dac0474c" /><Relationship Type="http://schemas.openxmlformats.org/officeDocument/2006/relationships/slide" Target="/ppt/slides/slide6.xml" Id="Re0c6e7a3bd964ed6" /><Relationship Type="http://schemas.openxmlformats.org/officeDocument/2006/relationships/slide" Target="/ppt/slides/slide7.xml" Id="R3023a6772b1e4181" /><Relationship Type="http://schemas.openxmlformats.org/officeDocument/2006/relationships/slide" Target="/ppt/slides/slide8.xml" Id="R962c2917b9af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c5a95ff75d49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8fb01aa7624a3c" /><Relationship Type="http://schemas.openxmlformats.org/officeDocument/2006/relationships/notesMaster" Target="/ppt/notesMasters/notesMaster1.xml" Id="R096de2dab739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dc44d2e4384ce1" /><Relationship Type="http://schemas.openxmlformats.org/officeDocument/2006/relationships/notesMaster" Target="/ppt/notesMasters/notesMaster1.xml" Id="R4ff7ab105d8345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1bbeed9eb48ba" /><Relationship Type="http://schemas.openxmlformats.org/officeDocument/2006/relationships/notesMaster" Target="/ppt/notesMasters/notesMaster1.xml" Id="Rd795bc71f87d45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6bafc2bbd4d3b" /><Relationship Type="http://schemas.openxmlformats.org/officeDocument/2006/relationships/notesMaster" Target="/ppt/notesMasters/notesMaster1.xml" Id="R5803574f7c56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fdfb50ec4d4fbb" /><Relationship Type="http://schemas.openxmlformats.org/officeDocument/2006/relationships/notesMaster" Target="/ppt/notesMasters/notesMaster1.xml" Id="R5031fda5590743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9ddb33b95c495c" /><Relationship Type="http://schemas.openxmlformats.org/officeDocument/2006/relationships/notesMaster" Target="/ppt/notesMasters/notesMaster1.xml" Id="Re44055c4ca7146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97741d751b4513" /><Relationship Type="http://schemas.openxmlformats.org/officeDocument/2006/relationships/notesMaster" Target="/ppt/notesMasters/notesMaster1.xml" Id="R9b2a313eae084a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d51f7b2e9a4852" /><Relationship Type="http://schemas.openxmlformats.org/officeDocument/2006/relationships/notesMaster" Target="/ppt/notesMasters/notesMaster1.xml" Id="R6d5a2ab9a69d41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6eaca33f44c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06ad4fa6254d89" /><Relationship Type="http://schemas.openxmlformats.org/officeDocument/2006/relationships/slideLayout" Target="/ppt/slideLayouts/slideLayout1.xml" Id="R48faef7411ae47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aef7411ae47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a060525d84c17" /><Relationship Type="http://schemas.openxmlformats.org/officeDocument/2006/relationships/image" Target="/ppt/media/image.jpeg" Id="R41a85b6e37194cb4" /><Relationship Type="http://schemas.openxmlformats.org/officeDocument/2006/relationships/image" Target="/ppt/media/image.png" Id="R060ba02f2a914cbb" /><Relationship Type="http://schemas.openxmlformats.org/officeDocument/2006/relationships/image" Target="/ppt/media/image2.jpeg" Id="Rf021b53ffd8c4c18" /><Relationship Type="http://schemas.openxmlformats.org/officeDocument/2006/relationships/image" Target="/ppt/media/image2.png" Id="Re87974cdc608492c" /><Relationship Type="http://schemas.openxmlformats.org/officeDocument/2006/relationships/notesSlide" Target="/ppt/notesSlides/notesSlide1.xml" Id="Re15cd8c0877146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c30038de1494d" /><Relationship Type="http://schemas.openxmlformats.org/officeDocument/2006/relationships/image" Target="/ppt/media/image3.jpeg" Id="Rcce4e18c1a5d4b62" /><Relationship Type="http://schemas.openxmlformats.org/officeDocument/2006/relationships/notesSlide" Target="/ppt/notesSlides/notesSlide2.xml" Id="R1e6446eb869e49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2698f9f8b4ae0" /><Relationship Type="http://schemas.openxmlformats.org/officeDocument/2006/relationships/image" Target="/ppt/media/image3.png" Id="R83d564a372aa457b" /><Relationship Type="http://schemas.openxmlformats.org/officeDocument/2006/relationships/notesSlide" Target="/ppt/notesSlides/notesSlide3.xml" Id="R87490c9539bb43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f578297664c46" /><Relationship Type="http://schemas.openxmlformats.org/officeDocument/2006/relationships/image" Target="/ppt/media/image4.png" Id="R9726a13c27df42a3" /><Relationship Type="http://schemas.openxmlformats.org/officeDocument/2006/relationships/notesSlide" Target="/ppt/notesSlides/notesSlide4.xml" Id="R09f2f7f781f64c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3d6681d1f4cf7" /><Relationship Type="http://schemas.openxmlformats.org/officeDocument/2006/relationships/image" Target="/ppt/media/image4.jpeg" Id="R728ee35e96594b07" /><Relationship Type="http://schemas.openxmlformats.org/officeDocument/2006/relationships/notesSlide" Target="/ppt/notesSlides/notesSlide5.xml" Id="R727b50711f3a40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22cbaa7624afb" /><Relationship Type="http://schemas.openxmlformats.org/officeDocument/2006/relationships/image" Target="/ppt/media/image5.png" Id="Rbeb18c986c604278" /><Relationship Type="http://schemas.openxmlformats.org/officeDocument/2006/relationships/notesSlide" Target="/ppt/notesSlides/notesSlide6.xml" Id="Rf6303d772ba94d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789e263744b43" /><Relationship Type="http://schemas.openxmlformats.org/officeDocument/2006/relationships/image" Target="/ppt/media/image6.png" Id="R48f0107d98004b3f" /><Relationship Type="http://schemas.openxmlformats.org/officeDocument/2006/relationships/notesSlide" Target="/ppt/notesSlides/notesSlide7.xml" Id="R1382500352b849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19504836f4f4f" /><Relationship Type="http://schemas.openxmlformats.org/officeDocument/2006/relationships/image" Target="/ppt/media/image7.png" Id="Ra29735f98bc04d7a" /><Relationship Type="http://schemas.openxmlformats.org/officeDocument/2006/relationships/notesSlide" Target="/ppt/notesSlides/notesSlide8.xml" Id="R68546e600b104d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DA7C4-18F0-4B17-AEC8-DEB83A15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1DF06-4250-4162-BF01-8630E50E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8366E-2D08-45BE-B531-0D0ACF17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22E61"/>
                </a:solidFill>
              </a:defRPr>
            </a:pPr>
            <a:r>
              <a:rPr sz="3150" b="1">
                <a:solidFill>
                  <a:srgbClr val="222E61"/>
                </a:solidFill>
              </a:rPr>
              <a:t>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6D731-1BCB-45F0-B286-7CFE40CE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E61"/>
                </a:solidFill>
              </a:defRPr>
            </a:pPr>
            <a:r>
              <a:rPr sz="1500" b="1">
                <a:solidFill>
                  <a:srgbClr val="222E61"/>
                </a:solidFill>
              </a:rPr>
              <a:t>Video Package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6C7F5-03E0-49D8-979C-CB653EBA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7982A6"/>
                </a:solidFill>
              </a:defRPr>
            </a:pPr>
            <a:r>
              <a:rPr sz="1125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7E391-E41D-4735-9B92-9E82AF2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D4836-19C9-4474-9363-87D9B263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222E61"/>
                </a:solidFill>
              </a:defRPr>
            </a:pPr>
            <a:r>
              <a:rPr sz="4050" b="1">
                <a:solidFill>
                  <a:srgbClr val="222E61"/>
                </a:solidFill>
              </a:rPr>
              <a:t>多模态非接触式睡眠看护系统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B5B7D-EE30-4FC0-9751-28582CE8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6C768F"/>
                </a:solidFill>
              </a:defRPr>
            </a:pPr>
            <a:r>
              <a:rPr sz="1725">
                <a:solidFill>
                  <a:srgbClr val="6C768F"/>
                </a:solidFill>
              </a:rPr>
              <a:t>毫米波雷达 × 小智守护 × Web/Android 告警闭环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04AFD-423C-4F00-8F2C-2A627431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23950"/>
            <a:ext cx="7277100" cy="4210050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04F01-2A07-4073-BA70-EB72D9AA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57300"/>
            <a:ext cx="70104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E9AEA-1E98-4371-82A0-CEEEDF6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04950"/>
            <a:ext cx="65151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37141-05F1-4B2D-8C02-212CFB25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953C0-B813-4B52-A2DE-2B4570E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4C103-D885-48D2-BFD3-EE1D0862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开场镜头：项目全景、设备亮相、主屏进入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3D42B-9054-409E-84D1-29AE853D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647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C84F5-5FDC-465E-BEEB-61B627E7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04E9F-CB8E-4EA0-BEEF-AE034955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1020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7982A6"/>
                </a:solidFill>
              </a:defRPr>
            </a:pPr>
            <a:r>
              <a:rPr sz="1125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DBA1A-D1BD-412F-B136-E7B558A1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5324A-B9E4-4421-A949-FA20A3A9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25BF2"/>
                </a:solidFill>
              </a:defRPr>
            </a:pPr>
            <a:r>
              <a:rPr sz="1050" b="1">
                <a:solidFill>
                  <a:srgbClr val="325BF2"/>
                </a:solidFill>
              </a:rPr>
              <a:t>无接触监测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281F7-9EC8-47C3-9214-09896965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190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49DA0-FE2E-46D5-AC25-460589B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385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7B36A"/>
                </a:solidFill>
              </a:defRPr>
            </a:pPr>
            <a:r>
              <a:rPr sz="1050" b="1">
                <a:solidFill>
                  <a:srgbClr val="27B36A"/>
                </a:solidFill>
              </a:rPr>
              <a:t>多床位看护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E43FE-DAC2-4521-8884-FF4E880D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3744">
              <a:alpha val="9020"/>
            </a:srgbClr>
          </a:solidFill>
          <a:ln xmlns:a="http://schemas.openxmlformats.org/drawingml/2006/main"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D1B5D-B478-427B-AE27-C59A54FB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23744"/>
                </a:solidFill>
              </a:defRPr>
            </a:pPr>
            <a:r>
              <a:rPr sz="1050" b="1">
                <a:solidFill>
                  <a:srgbClr val="E23744"/>
                </a:solidFill>
              </a:rPr>
              <a:t>告警闭环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03C14-5A44-4150-A9EC-3F1DE567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2190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85b6e37194cb4"/>
          <a:srcRect xmlns:a="http://schemas.openxmlformats.org/drawingml/2006/main" l="0" t="28571" r="0" b="28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4953000"/>
            <a:ext cx="2000250" cy="1143000"/>
          </a:xfrm>
          <a:prstGeom xmlns:a="http://schemas.openxmlformats.org/drawingml/2006/main" prst="round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8E7D7-B4D8-4FA6-BC71-73B317B8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982A6"/>
                </a:solidFill>
              </a:defRPr>
            </a:pPr>
            <a:r>
              <a:rPr sz="975">
                <a:solidFill>
                  <a:srgbClr val="7982A6"/>
                </a:solidFill>
              </a:rPr>
              <a:t>小智守护终端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CA12A-52E4-44C5-8FE8-95EFAB59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57750"/>
            <a:ext cx="2190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ba02f2a914cbb"/>
          <a:stretch xmlns:a="http://schemas.openxmlformats.org/drawingml/2006/main"/>
        </p:blipFill>
        <p:spPr>
          <a:xfrm xmlns:a="http://schemas.openxmlformats.org/drawingml/2006/main">
            <a:off x="3268380" y="4953000"/>
            <a:ext cx="1521390" cy="1143000"/>
          </a:xfrm>
          <a:prstGeom xmlns:a="http://schemas.openxmlformats.org/drawingml/2006/main" prst="round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F0CA3-D605-486C-B630-8BC6C990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91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982A6"/>
                </a:solidFill>
              </a:defRPr>
            </a:pPr>
            <a:r>
              <a:rPr sz="975">
                <a:solidFill>
                  <a:srgbClr val="7982A6"/>
                </a:solidFill>
              </a:rPr>
              <a:t>毫米波雷达板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6E16E6-8D6C-4DB6-9A62-6D464204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0289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09678A-2A74-4F86-8499-A31AC79D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非接触式</a:t>
            </a:r>
          </a:p>
          <a:p xmlns:a="http://schemas.openxmlformats.org/drawingml/2006/main">
            <a:pPr>
              <a:buNone/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睡眠看护系统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225E29-2387-4A84-B691-8F2BA7AE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C768F"/>
                </a:solidFill>
              </a:defRPr>
            </a:pPr>
            <a:r>
              <a:rPr sz="1650" b="0">
                <a:solidFill>
                  <a:srgbClr val="6C768F"/>
                </a:solidFill>
              </a:rPr>
              <a:t>毫米波雷达 × 小智守护</a:t>
            </a:r>
          </a:p>
          <a:p xmlns:a="http://schemas.openxmlformats.org/drawingml/2006/main">
            <a:pPr>
              <a:buNone/>
              <a:defRPr sz="1650" b="0">
                <a:solidFill>
                  <a:srgbClr val="6C768F"/>
                </a:solidFill>
              </a:defRPr>
            </a:pPr>
            <a:r>
              <a:rPr sz="1650" b="0">
                <a:solidFill>
                  <a:srgbClr val="6C768F"/>
                </a:solidFill>
              </a:rPr>
              <a:t>Web/Android 告警闭环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683E72-3D1D-4230-AACA-E849481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0861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124ED0-4151-47D5-9AF1-AC7A750F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2705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非接触式</a:t>
            </a:r>
          </a:p>
          <a:p xmlns:a="http://schemas.openxmlformats.org/drawingml/2006/main">
            <a:pPr>
              <a:buNone/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睡眠看护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7BB595-6B47-4B0A-8CFE-F696CE7D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C768F"/>
                </a:solidFill>
              </a:defRPr>
            </a:pPr>
            <a:r>
              <a:rPr sz="1650" b="0">
                <a:solidFill>
                  <a:srgbClr val="6C768F"/>
                </a:solidFill>
              </a:rPr>
              <a:t>毫米波雷达 × 小智守护</a:t>
            </a:r>
          </a:p>
          <a:p xmlns:a="http://schemas.openxmlformats.org/drawingml/2006/main">
            <a:pPr>
              <a:buNone/>
              <a:defRPr sz="1650" b="0">
                <a:solidFill>
                  <a:srgbClr val="6C768F"/>
                </a:solidFill>
              </a:defRPr>
            </a:pPr>
            <a:r>
              <a:rPr sz="1650" b="0">
                <a:solidFill>
                  <a:srgbClr val="6C768F"/>
                </a:solidFill>
              </a:rPr>
              <a:t>Web/Android 告警闭环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D93B38-F00D-43D9-B33E-3DDA1869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828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E471E3-4CE8-4658-81BC-1A4B1DA7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25BF2"/>
                </a:solidFill>
              </a:defRPr>
            </a:pPr>
            <a:r>
              <a:rPr sz="1050" b="1">
                <a:solidFill>
                  <a:srgbClr val="325BF2"/>
                </a:solidFill>
              </a:rPr>
              <a:t>无接触监测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70F25B-5C36-44A4-B419-0157EBEA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828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DDAEA4-9A72-47FF-ADCD-DF5F7B89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7B36A"/>
                </a:solidFill>
              </a:defRPr>
            </a:pPr>
            <a:r>
              <a:rPr sz="1050" b="1">
                <a:solidFill>
                  <a:srgbClr val="27B36A"/>
                </a:solidFill>
              </a:rPr>
              <a:t>多床位看护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B275AC-F04F-4E20-9422-DB3A49FD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828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3744">
              <a:alpha val="9020"/>
            </a:srgbClr>
          </a:solidFill>
          <a:ln xmlns:a="http://schemas.openxmlformats.org/drawingml/2006/main"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5F8977-0C1D-4FCD-B5A0-9CED8605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23744"/>
                </a:solidFill>
              </a:defRPr>
            </a:pPr>
            <a:r>
              <a:rPr sz="1050" b="1">
                <a:solidFill>
                  <a:srgbClr val="E23744"/>
                </a:solidFill>
              </a:rPr>
              <a:t>告警闭环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40B13D-9C40-47D6-8365-9E34B31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086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809310-30B2-4F57-A431-3FD62E8E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F6E523-369B-4797-A23C-CB7568A8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25BF2"/>
                </a:solidFill>
              </a:defRPr>
            </a:pPr>
            <a:r>
              <a:rPr sz="975" b="1">
                <a:solidFill>
                  <a:srgbClr val="325BF2"/>
                </a:solidFill>
              </a:rPr>
              <a:t>无接触监测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58FC2D-E1F4-4FF0-B23B-0A93096E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052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25B9E9-4D41-4BD1-AF35-9723D98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719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7B36A"/>
                </a:solidFill>
              </a:defRPr>
            </a:pPr>
            <a:r>
              <a:rPr sz="975" b="1">
                <a:solidFill>
                  <a:srgbClr val="27B36A"/>
                </a:solidFill>
              </a:rPr>
              <a:t>多床位看护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11AF76-3EBC-480A-98C0-B091CA2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3744">
              <a:alpha val="9020"/>
            </a:srgbClr>
          </a:solidFill>
          <a:ln xmlns:a="http://schemas.openxmlformats.org/drawingml/2006/main"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BFDD1B-6E19-49BC-8B28-CE19D98D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23744"/>
                </a:solidFill>
              </a:defRPr>
            </a:pPr>
            <a:r>
              <a:rPr sz="975" b="1">
                <a:solidFill>
                  <a:srgbClr val="E23744"/>
                </a:solidFill>
              </a:rPr>
              <a:t>告警闭环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B635B0-3016-46E7-962C-0783C7A2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2190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1b53ffd8c4c18"/>
          <a:srcRect xmlns:a="http://schemas.openxmlformats.org/drawingml/2006/main" l="0" t="28571" r="0" b="28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4953000"/>
            <a:ext cx="2000250" cy="1143000"/>
          </a:xfrm>
          <a:prstGeom xmlns:a="http://schemas.openxmlformats.org/drawingml/2006/main" prst="round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5E8AEE-5C7A-4494-AF72-2768C659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7982A6"/>
                </a:solidFill>
              </a:defRPr>
            </a:pPr>
            <a:r>
              <a:rPr sz="975" b="0">
                <a:solidFill>
                  <a:srgbClr val="7982A6"/>
                </a:solidFill>
              </a:rPr>
              <a:t>小智守护终端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D07BC8-8646-4669-9335-F3F3916E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57750"/>
            <a:ext cx="2190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974cdc608492c"/>
          <a:stretch xmlns:a="http://schemas.openxmlformats.org/drawingml/2006/main"/>
        </p:blipFill>
        <p:spPr>
          <a:xfrm xmlns:a="http://schemas.openxmlformats.org/drawingml/2006/main">
            <a:off x="3268380" y="4953000"/>
            <a:ext cx="1521390" cy="1143000"/>
          </a:xfrm>
          <a:prstGeom xmlns:a="http://schemas.openxmlformats.org/drawingml/2006/main" prst="round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14E4D4-EB32-4024-8EEF-9B62D207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91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7982A6"/>
                </a:solidFill>
              </a:defRPr>
            </a:pPr>
            <a:r>
              <a:rPr sz="975" b="0">
                <a:solidFill>
                  <a:srgbClr val="7982A6"/>
                </a:solidFill>
              </a:rPr>
              <a:t>毫米波雷达板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29CDD4-4A1F-4AEC-ADF5-84478588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342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51521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8CB947-6CC8-4F3B-A965-00B081C4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2F6CC-4DC6-4912-AFA4-E7624428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01F8-9691-4988-A954-39602159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22E61"/>
                </a:solidFill>
              </a:defRPr>
            </a:pPr>
            <a:r>
              <a:rPr sz="3150" b="1">
                <a:solidFill>
                  <a:srgbClr val="222E6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C21A1-9DD3-4766-A714-739B8850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E61"/>
                </a:solidFill>
              </a:defRPr>
            </a:pPr>
            <a:r>
              <a:rPr sz="1500" b="1">
                <a:solidFill>
                  <a:srgbClr val="222E61"/>
                </a:solidFill>
              </a:rPr>
              <a:t>Care Scene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FB012-BD62-4ECD-8754-E0D1FD95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7982A6"/>
                </a:solidFill>
              </a:defRPr>
            </a:pPr>
            <a:r>
              <a:rPr sz="1125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5182D-6C12-47EE-9B66-9AF5F78D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B6960-9E25-4CE2-A685-7FD3AA93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724150" cy="394335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CD096-4044-4418-850C-C9364413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524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325BF2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2A0B2-17F7-4BBB-BD0D-E674ADB0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25BF2"/>
                </a:solidFill>
              </a:defRPr>
            </a:pPr>
            <a:r>
              <a:rPr sz="1350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0382B-8FAA-4DBD-B6F8-3C8E7BEB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22E61"/>
                </a:solidFill>
              </a:defRPr>
            </a:pPr>
            <a:r>
              <a:rPr sz="2400" b="1">
                <a:solidFill>
                  <a:srgbClr val="222E61"/>
                </a:solidFill>
              </a:rPr>
              <a:t>护理人员只需要看清哪张床正在出问题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8543E-C257-41FE-9352-43A9C708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2F780-6BD6-4ED2-9D2A-A8385278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多床位统一监视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07748-DB4D-451A-A71F-D77454BE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B5AA3-8923-4C91-B285-6C7F37F6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床位状态一眼判断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48AFA-1941-49EB-8DEF-2CD26F09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82366-7DC9-4232-853F-E3882553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异常事件集中呈现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07E5F-8117-4E5B-B521-BE53CE2A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23950"/>
            <a:ext cx="7277100" cy="4210050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18D1B-CF65-45A9-9EB3-3792A997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57300"/>
            <a:ext cx="70104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7903B-C7FE-4629-A8AD-ACE81105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04950"/>
            <a:ext cx="65151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50504-BF2B-4F1D-ABA9-FAE339FD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FC907-4AD8-4DB1-B64E-E54BBEE0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67074-F804-4ED4-A832-2534DF59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录制护士站首页：进入床位监视屏，展示正常、关注、紧急床位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D6186-2323-4A5A-B0DE-5668458A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647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FFCD8-745E-4190-84D6-D034F6F0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A9130-5B69-4D4F-A779-0EC449DD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1020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7982A6"/>
                </a:solidFill>
              </a:defRPr>
            </a:pPr>
            <a:r>
              <a:rPr sz="1125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803FE0-AE62-4CFE-8FB9-935874EE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29146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4e18c1a5d4b62"/>
          <a:srcRect xmlns:a="http://schemas.openxmlformats.org/drawingml/2006/main" l="0" t="25391" r="0" b="25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5467350"/>
            <a:ext cx="2724150" cy="83820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B6EBD-A7DB-46C3-9E54-1F90BA3C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982A6"/>
                </a:solidFill>
              </a:defRPr>
            </a:pPr>
            <a:r>
              <a:rPr sz="975">
                <a:solidFill>
                  <a:srgbClr val="7982A6"/>
                </a:solidFill>
              </a:rPr>
              <a:t>护士站床位监视屏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3CE91-5374-4251-B30B-69A5DB23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673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5E22B-0C29-493E-9461-9723809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340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25BF2"/>
                </a:solidFill>
              </a:defRPr>
            </a:pPr>
            <a:r>
              <a:rPr sz="1050" b="1">
                <a:solidFill>
                  <a:srgbClr val="325BF2"/>
                </a:solidFill>
              </a:rPr>
              <a:t>视频主画面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AF4208-26A9-48E7-B65D-7AF29972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245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E61">
              <a:alpha val="9020"/>
            </a:srgbClr>
          </a:solidFill>
          <a:ln xmlns:a="http://schemas.openxmlformats.org/drawingml/2006/main" w="9525">
            <a:solidFill>
              <a:srgbClr val="222E61">
                <a:alpha val="2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6136BA-96FC-4254-811F-460F0158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91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22E61"/>
                </a:solidFill>
              </a:defRPr>
            </a:pPr>
            <a:r>
              <a:rPr sz="1050" b="1">
                <a:solidFill>
                  <a:srgbClr val="222E61"/>
                </a:solidFill>
              </a:rPr>
              <a:t>旁白关键词</a:t>
            </a:r>
          </a:p>
        </p:txBody>
      </p:sp>
    </p:spTree>
    <p:extLst>
      <p:ext uri="{BB962C8B-B14F-4D97-AF65-F5344CB8AC3E}">
        <p14:creationId xmlns:p14="http://schemas.microsoft.com/office/powerpoint/2010/main" val="9995419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096E5B-7DB8-4C38-939F-4358F8F3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8D7B4-282E-4088-9C1F-43D779CA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9C84E-ED93-42B5-B40A-D7364188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22E61"/>
                </a:solidFill>
              </a:defRPr>
            </a:pPr>
            <a:r>
              <a:rPr sz="3150" b="1">
                <a:solidFill>
                  <a:srgbClr val="222E6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279D1-2218-473E-A37E-C2A0A62E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E61"/>
                </a:solidFill>
              </a:defRPr>
            </a:pPr>
            <a:r>
              <a:rPr sz="1500" b="1">
                <a:solidFill>
                  <a:srgbClr val="222E61"/>
                </a:solidFill>
              </a:rPr>
              <a:t>Vitals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95DAD-46FE-4C24-B8A3-8DF11B0B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7982A6"/>
                </a:solidFill>
              </a:defRPr>
            </a:pPr>
            <a:r>
              <a:rPr sz="1125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B92D4-EC18-404F-8011-C64A1505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D3246-3611-4219-9A2C-519E6F73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724150" cy="394335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FE373-647E-4636-BB5E-117F8EB5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524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42C7DF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21E3A-1DF4-4381-8304-946B77D3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2C7DF"/>
                </a:solidFill>
              </a:defRPr>
            </a:pPr>
            <a:r>
              <a:rPr sz="1350" b="1">
                <a:solidFill>
                  <a:srgbClr val="42C7DF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857CF-623D-4346-B565-CF51839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22E61"/>
                </a:solidFill>
              </a:defRPr>
            </a:pPr>
            <a:r>
              <a:rPr sz="2400" b="1">
                <a:solidFill>
                  <a:srgbClr val="222E61"/>
                </a:solidFill>
              </a:rPr>
              <a:t>心率、呼吸率和呼噜信号同步进入看护驾驶舱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D2646-1F8C-4E4A-B273-027D9B5C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67255-8EE7-4D6F-B35C-B934DE93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雷达无接触生命体征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7F354-2F82-4AF2-91AC-4C52E790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FC5CA-824E-4BFF-A30E-2106F6CE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呼噜强度实时变化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247D0-AE7E-4044-A4CE-AFD6B2AF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BFB9E-A22C-4F57-9D0E-7A510FC2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短暂抖动不误判离线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378EB-917D-40D6-B8F6-D9ADAA1F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23950"/>
            <a:ext cx="7277100" cy="4210050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7834C-34C1-45D3-B8D9-C168735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57300"/>
            <a:ext cx="70104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2D418-4FEB-46E6-983E-1AA3388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04950"/>
            <a:ext cx="65151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A9341-D0B4-43A0-93EC-DA9C087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10126-C0F0-4615-9A0D-C23C5132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9ED6E-1783-4D09-B36B-314ACBB8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录制生命体征页：心率、呼吸率、呼噜趋势实时刷新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24E5F-54A4-416A-93EA-99ADD1BA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647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580AE-6B64-4A27-93CF-87BDBDE4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45047-E607-4937-B878-BC1F21F8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1020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7982A6"/>
                </a:solidFill>
              </a:defRPr>
            </a:pPr>
            <a:r>
              <a:rPr sz="1125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B2B17-15A3-49F1-9AE1-B2E4E7F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29146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564a372aa457b"/>
          <a:srcRect xmlns:a="http://schemas.openxmlformats.org/drawingml/2006/main" l="0" t="25385" r="0" b="25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5467350"/>
            <a:ext cx="2724150" cy="83820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EDEFE6-5972-4367-B102-EB2CC65B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982A6"/>
                </a:solidFill>
              </a:defRPr>
            </a:pPr>
            <a:r>
              <a:rPr sz="975">
                <a:solidFill>
                  <a:srgbClr val="7982A6"/>
                </a:solidFill>
              </a:rPr>
              <a:t>生命体征监测页面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C858F-8417-44FE-8416-F96E0B41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673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>
              <a:alpha val="9020"/>
            </a:srgbClr>
          </a:solidFill>
          <a:ln xmlns:a="http://schemas.openxmlformats.org/drawingml/2006/main" w="9525">
            <a:solidFill>
              <a:srgbClr val="42C7DF">
                <a:alpha val="2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9CD7B2-8E7A-4511-8A61-45F159C0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340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2C7DF"/>
                </a:solidFill>
              </a:defRPr>
            </a:pPr>
            <a:r>
              <a:rPr sz="1050" b="1">
                <a:solidFill>
                  <a:srgbClr val="42C7DF"/>
                </a:solidFill>
              </a:rPr>
              <a:t>视频主画面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4C5F3-C92B-4281-83AD-E900CAB1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245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E61">
              <a:alpha val="9020"/>
            </a:srgbClr>
          </a:solidFill>
          <a:ln xmlns:a="http://schemas.openxmlformats.org/drawingml/2006/main" w="9525">
            <a:solidFill>
              <a:srgbClr val="222E61">
                <a:alpha val="2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DCDB93-D9E6-4A6E-A7D5-82DA3CCC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91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22E61"/>
                </a:solidFill>
              </a:defRPr>
            </a:pPr>
            <a:r>
              <a:rPr sz="1050" b="1">
                <a:solidFill>
                  <a:srgbClr val="222E61"/>
                </a:solidFill>
              </a:rPr>
              <a:t>旁白关键词</a:t>
            </a:r>
          </a:p>
        </p:txBody>
      </p:sp>
    </p:spTree>
    <p:extLst>
      <p:ext uri="{BB962C8B-B14F-4D97-AF65-F5344CB8AC3E}">
        <p14:creationId xmlns:p14="http://schemas.microsoft.com/office/powerpoint/2010/main" val="16765805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C49B7-76E6-4D98-8F4A-E151713D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B453E-BD19-4632-B7FC-C607938B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A1404-6F08-4723-96AF-79CA8299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22E61"/>
                </a:solidFill>
              </a:defRPr>
            </a:pPr>
            <a:r>
              <a:rPr sz="3150" b="1">
                <a:solidFill>
                  <a:srgbClr val="222E6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98683-BD0C-49DE-9BB2-150B2A37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E61"/>
                </a:solidFill>
              </a:defRPr>
            </a:pPr>
            <a:r>
              <a:rPr sz="1500" b="1">
                <a:solidFill>
                  <a:srgbClr val="222E61"/>
                </a:solidFill>
              </a:rPr>
              <a:t>Environment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50BF9-C835-4263-8AF8-F78D8AA3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7982A6"/>
                </a:solidFill>
              </a:defRPr>
            </a:pPr>
            <a:r>
              <a:rPr sz="1125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A103F-E617-4C1E-807D-4158EAC5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672E6-D070-4DB7-9AFD-DEE65038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724150" cy="394335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9E636-3AF6-4D74-9A55-145B8737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524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E9B2D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03266-D099-4F0C-8B51-FC436F24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E9B2D"/>
                </a:solidFill>
              </a:defRPr>
            </a:pPr>
            <a:r>
              <a:rPr sz="1350" b="1">
                <a:solidFill>
                  <a:srgbClr val="EE9B2D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5A9A8-C37E-4FC8-AC6D-B74A4D09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22E61"/>
                </a:solidFill>
              </a:defRPr>
            </a:pPr>
            <a:r>
              <a:rPr sz="2400" b="1">
                <a:solidFill>
                  <a:srgbClr val="222E61"/>
                </a:solidFill>
              </a:rPr>
              <a:t>环境数据帮助判断睡眠舒适度和异常来源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20096-7811-4E39-98DA-6899612A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5C304-5BB5-4196-BF17-A53C10DB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温湿度持续上报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CB885-D343-41B2-AF5E-73CA54E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EE817-EDD7-4BA0-8A60-53803060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环境声音趋势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C4BCE-1F7D-4C1C-8841-7F6BF12E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2D734-364E-42DB-8E03-2E06C403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舒适度评分提示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6E068-28E2-45C3-8A06-760D258F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23950"/>
            <a:ext cx="7277100" cy="4210050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825E1-4F33-401C-A710-05ED1F84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57300"/>
            <a:ext cx="70104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EA645-8E0B-4671-B948-C5240382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04950"/>
            <a:ext cx="65151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BF9A1-7813-406F-B70C-EBEA2F54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27DF2-3369-40C4-B81A-BDF373FD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039EF-2C30-4D63-AC55-483D4FCB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录制睡眠环境分析：温度、湿度、声音数据同步变化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D5ECE-565B-475A-BC93-FBC548C3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647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FF6B2-2746-4E9B-8ADA-49699912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7996A2-8176-4E22-BFBC-06108CA7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1020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7982A6"/>
                </a:solidFill>
              </a:defRPr>
            </a:pPr>
            <a:r>
              <a:rPr sz="1125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5FA597-50D9-4D89-8E73-BE02E6D8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29146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6a13c27df42a3"/>
          <a:srcRect xmlns:a="http://schemas.openxmlformats.org/drawingml/2006/main" l="0" t="25385" r="0" b="25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5467350"/>
            <a:ext cx="2724150" cy="83820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3D463E-DB3A-44C6-A7F6-D77EBE81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982A6"/>
                </a:solidFill>
              </a:defRPr>
            </a:pPr>
            <a:r>
              <a:rPr sz="975">
                <a:solidFill>
                  <a:srgbClr val="7982A6"/>
                </a:solidFill>
              </a:rPr>
              <a:t>睡眠环境分析页面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E256C-998C-40DF-83AA-EF1B4776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673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9B2D">
              <a:alpha val="9020"/>
            </a:srgbClr>
          </a:solidFill>
          <a:ln xmlns:a="http://schemas.openxmlformats.org/drawingml/2006/main" w="9525">
            <a:solidFill>
              <a:srgbClr val="EE9B2D">
                <a:alpha val="2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0A67EF-E77D-4A07-8B21-822280B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340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E9B2D"/>
                </a:solidFill>
              </a:defRPr>
            </a:pPr>
            <a:r>
              <a:rPr sz="1050" b="1">
                <a:solidFill>
                  <a:srgbClr val="EE9B2D"/>
                </a:solidFill>
              </a:rPr>
              <a:t>视频主画面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86B85-4204-43A9-947D-F79E17B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245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E61">
              <a:alpha val="9020"/>
            </a:srgbClr>
          </a:solidFill>
          <a:ln xmlns:a="http://schemas.openxmlformats.org/drawingml/2006/main" w="9525">
            <a:solidFill>
              <a:srgbClr val="222E61">
                <a:alpha val="2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008C6-3FAD-4693-8085-462BE66A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91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22E61"/>
                </a:solidFill>
              </a:defRPr>
            </a:pPr>
            <a:r>
              <a:rPr sz="1050" b="1">
                <a:solidFill>
                  <a:srgbClr val="222E61"/>
                </a:solidFill>
              </a:rPr>
              <a:t>旁白关键词</a:t>
            </a:r>
          </a:p>
        </p:txBody>
      </p:sp>
    </p:spTree>
    <p:extLst>
      <p:ext uri="{BB962C8B-B14F-4D97-AF65-F5344CB8AC3E}">
        <p14:creationId xmlns:p14="http://schemas.microsoft.com/office/powerpoint/2010/main" val="20767678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F8E83-7681-4E58-BC7F-FCCF67C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DB201-4F15-432D-971A-A6FF27E8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DB39C-A246-410E-BCBE-6D033BFB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22E61"/>
                </a:solidFill>
              </a:defRPr>
            </a:pPr>
            <a:r>
              <a:rPr sz="3150" b="1">
                <a:solidFill>
                  <a:srgbClr val="222E61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2A06A-0B64-4D03-BAAD-A981EF3C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E61"/>
                </a:solidFill>
              </a:defRPr>
            </a:pPr>
            <a:r>
              <a:rPr sz="1500" b="1">
                <a:solidFill>
                  <a:srgbClr val="222E61"/>
                </a:solidFill>
              </a:rPr>
              <a:t>Guard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60ADC-F320-4AC7-B446-F0ADC06D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7982A6"/>
                </a:solidFill>
              </a:defRPr>
            </a:pPr>
            <a:r>
              <a:rPr sz="1125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5BF8A-D384-415B-878A-9027EF41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C956E-BF9C-4BF8-ACD8-3D464416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724150" cy="394335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B2A09-9EAA-4640-88E8-2B0714D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524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7B36A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EDC6A-AD56-4171-B3CF-213A0E03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7B36A"/>
                </a:solidFill>
              </a:defRPr>
            </a:pPr>
            <a:r>
              <a:rPr sz="1350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206C9-0711-466A-9A46-F7549E77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22E61"/>
                </a:solidFill>
              </a:defRPr>
            </a:pPr>
            <a:r>
              <a:rPr sz="2400" b="1">
                <a:solidFill>
                  <a:srgbClr val="222E61"/>
                </a:solidFill>
              </a:rPr>
              <a:t>小智终端默认守护，呼噜和求助不依赖人工值守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A191B-4981-4C3C-A9BC-E08F52E8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8DD4B-9137-4F03-BD33-3546B314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守护模式在线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78C8C-F404-4850-BD19-A5A8057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BEAA2-FE7A-49FE-A072-82A6BC73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本地呼噜检测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67D1B-0E8F-4CF8-B8EC-247C678C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07516-21D8-4FBF-B52C-9A865C32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求助语音触发 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01AB9-62DA-4352-A078-8C20CBE5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23950"/>
            <a:ext cx="7277100" cy="4210050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8CB95-D26A-4323-8A69-D981CC3B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57300"/>
            <a:ext cx="70104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34E53-48E0-4976-A3AC-44A89D38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04950"/>
            <a:ext cx="65151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85663-E629-40E6-B5C4-833CC6CE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56804-6B36-440A-8FB5-DCF3956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05560-9222-4058-A01B-0106DF1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录制开发板屏幕：守护模式在线、呼噜检测、时间显示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80EDF-8B26-4219-9A66-0BD8C12C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647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C7DF9-45F9-4C59-996B-EBFB28BC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5B1B6-896E-4517-B022-9C6F0394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1020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7982A6"/>
                </a:solidFill>
              </a:defRPr>
            </a:pPr>
            <a:r>
              <a:rPr sz="1125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0E87E-AF5B-4CFF-85F1-10BEBCCB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29146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ee35e96594b07"/>
          <a:srcRect xmlns:a="http://schemas.openxmlformats.org/drawingml/2006/main" l="0" t="38462" r="0" b="38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5467350"/>
            <a:ext cx="2724150" cy="83820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0754EF-DB3F-45EC-B890-CCA15CF1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982A6"/>
                </a:solidFill>
              </a:defRPr>
            </a:pPr>
            <a:r>
              <a:rPr sz="975">
                <a:solidFill>
                  <a:srgbClr val="7982A6"/>
                </a:solidFill>
              </a:rPr>
              <a:t>小智呼噜/守护终端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FCF3C0-5E94-4607-AAA5-54876EF5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673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8EE95-149E-4035-A515-5E78D49B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340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7B36A"/>
                </a:solidFill>
              </a:defRPr>
            </a:pPr>
            <a:r>
              <a:rPr sz="1050" b="1">
                <a:solidFill>
                  <a:srgbClr val="27B36A"/>
                </a:solidFill>
              </a:rPr>
              <a:t>视频主画面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E4320B-348D-42B5-8FF8-0D5F2714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245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E61">
              <a:alpha val="9020"/>
            </a:srgbClr>
          </a:solidFill>
          <a:ln xmlns:a="http://schemas.openxmlformats.org/drawingml/2006/main" w="9525">
            <a:solidFill>
              <a:srgbClr val="222E61">
                <a:alpha val="2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E76C1F-AFDC-459B-8E8C-532AB51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91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22E61"/>
                </a:solidFill>
              </a:defRPr>
            </a:pPr>
            <a:r>
              <a:rPr sz="1050" b="1">
                <a:solidFill>
                  <a:srgbClr val="222E61"/>
                </a:solidFill>
              </a:rPr>
              <a:t>旁白关键词</a:t>
            </a:r>
          </a:p>
        </p:txBody>
      </p:sp>
    </p:spTree>
    <p:extLst>
      <p:ext uri="{BB962C8B-B14F-4D97-AF65-F5344CB8AC3E}">
        <p14:creationId xmlns:p14="http://schemas.microsoft.com/office/powerpoint/2010/main" val="10124903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F2D91-72E2-4BD9-A75D-880EBBE9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24A85-7068-4A07-A974-2F49C123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9EFDE-110D-4190-AF83-96B242D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22E61"/>
                </a:solidFill>
              </a:defRPr>
            </a:pPr>
            <a:r>
              <a:rPr sz="3150" b="1">
                <a:solidFill>
                  <a:srgbClr val="222E6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202F4-CA4F-4D8D-8387-5D4B2797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E61"/>
                </a:solidFill>
              </a:defRPr>
            </a:pPr>
            <a:r>
              <a:rPr sz="1500" b="1">
                <a:solidFill>
                  <a:srgbClr val="222E61"/>
                </a:solidFill>
              </a:rPr>
              <a:t>Emergency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F224F-A2B8-41D4-B3F0-7150B263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7982A6"/>
                </a:solidFill>
              </a:defRPr>
            </a:pPr>
            <a:r>
              <a:rPr sz="1125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5B434-81BE-4F0E-8448-6F6A8D48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DA3D8-4C64-46C6-9FA6-E6B278F3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724150" cy="394335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1E1F3-F3A8-453A-9D4D-2D7A2C18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524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23744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AFB2F-74B7-406A-8CBC-8F698A07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23744"/>
                </a:solidFill>
              </a:defRPr>
            </a:pPr>
            <a:r>
              <a:rPr sz="1350" b="1">
                <a:solidFill>
                  <a:srgbClr val="E23744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6AE65-C6A4-450F-9134-DFF52B37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22E61"/>
                </a:solidFill>
              </a:defRPr>
            </a:pPr>
            <a:r>
              <a:rPr sz="2400" b="1">
                <a:solidFill>
                  <a:srgbClr val="222E61"/>
                </a:solidFill>
              </a:rPr>
              <a:t>紧急事件从开发板同步到前端，处理后全端解除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89FF8-A16E-4CCE-B43E-2FEC0144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D17E1-7268-443E-819F-6E00658C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语音求助或跌落触发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3919D-C209-4165-900F-13CDE413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65A4C-AF8D-41A5-8AB1-C55AAE0E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大屏标红并语音播报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0EADF-499C-45B8-9D4D-28BD6955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3D604-79FF-4759-A306-E9BA3FCD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填写处理结果解除告警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0E704-3DD3-421D-B64C-CC231014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23950"/>
            <a:ext cx="7277100" cy="4210050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E3A1C-611B-44EE-8886-B44F1C93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57300"/>
            <a:ext cx="70104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6A568-E57D-4EA0-B0F0-D88B66E0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04950"/>
            <a:ext cx="65151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EA2B2-DE83-44FF-995C-FAAAEEB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07107-3266-4ED0-9C5A-84014CE5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CBEC7-CF0F-459D-83DB-37250DCC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录制 SOS 闭环：触发告警、前端弹窗、确认处理、状态恢复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B045A-2F3C-4C1B-BC07-25B6DC73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647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89800-34B4-4DC6-B013-A8F1BEF9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52C5F-F8C3-4A42-97D0-8B707A8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1020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7982A6"/>
                </a:solidFill>
              </a:defRPr>
            </a:pPr>
            <a:r>
              <a:rPr sz="1125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E137CC-18D7-415C-8929-07E47C46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29146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18c986c604278"/>
          <a:srcRect xmlns:a="http://schemas.openxmlformats.org/drawingml/2006/main" l="0" t="25385" r="0" b="25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5467350"/>
            <a:ext cx="2724150" cy="83820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330EC4-84CC-47C0-B4DD-A8B6DB45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982A6"/>
                </a:solidFill>
              </a:defRPr>
            </a:pPr>
            <a:r>
              <a:rPr sz="975">
                <a:solidFill>
                  <a:srgbClr val="7982A6"/>
                </a:solidFill>
              </a:rPr>
              <a:t>看护预警中心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56E21B-D0B7-40B8-85DE-CFE842F2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673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3744">
              <a:alpha val="9020"/>
            </a:srgbClr>
          </a:solidFill>
          <a:ln xmlns:a="http://schemas.openxmlformats.org/drawingml/2006/main"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99B64-7E76-4DF1-A062-9F4AA204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340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23744"/>
                </a:solidFill>
              </a:defRPr>
            </a:pPr>
            <a:r>
              <a:rPr sz="1050" b="1">
                <a:solidFill>
                  <a:srgbClr val="E23744"/>
                </a:solidFill>
              </a:rPr>
              <a:t>视频主画面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395593-EFC3-47C9-AA8D-271A8F9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245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E61">
              <a:alpha val="9020"/>
            </a:srgbClr>
          </a:solidFill>
          <a:ln xmlns:a="http://schemas.openxmlformats.org/drawingml/2006/main" w="9525">
            <a:solidFill>
              <a:srgbClr val="222E61">
                <a:alpha val="2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50F8BB-1715-4E0C-9B42-5415C822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91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22E61"/>
                </a:solidFill>
              </a:defRPr>
            </a:pPr>
            <a:r>
              <a:rPr sz="1050" b="1">
                <a:solidFill>
                  <a:srgbClr val="222E61"/>
                </a:solidFill>
              </a:rPr>
              <a:t>旁白关键词</a:t>
            </a:r>
          </a:p>
        </p:txBody>
      </p:sp>
    </p:spTree>
    <p:extLst>
      <p:ext uri="{BB962C8B-B14F-4D97-AF65-F5344CB8AC3E}">
        <p14:creationId xmlns:p14="http://schemas.microsoft.com/office/powerpoint/2010/main" val="20772555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5178E2-F5FE-4FEB-BEE6-FA9AB307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279B8-B83F-4AEC-90B5-47B58940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FA30C-CDCA-4247-B5C9-97E5BFC4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22E61"/>
                </a:solidFill>
              </a:defRPr>
            </a:pPr>
            <a:r>
              <a:rPr sz="3150" b="1">
                <a:solidFill>
                  <a:srgbClr val="222E6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18602-1C19-4EAE-8D81-70A2F166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E61"/>
                </a:solidFill>
              </a:defRPr>
            </a:pPr>
            <a:r>
              <a:rPr sz="1500" b="1">
                <a:solidFill>
                  <a:srgbClr val="222E61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8199B-4850-4D8E-AC7F-9F5F62D6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7982A6"/>
                </a:solidFill>
              </a:defRPr>
            </a:pPr>
            <a:r>
              <a:rPr sz="1125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40CC8-31BA-4C4F-A87B-7AF79072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E24AF-544C-406D-8390-C4479AE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724150" cy="394335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BACAB-8B16-4628-9643-A5012F9B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524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325BF2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5D758-7E37-4DC3-B0BF-D424ABE5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25BF2"/>
                </a:solidFill>
              </a:defRPr>
            </a:pPr>
            <a:r>
              <a:rPr sz="1350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D1150-A311-44C8-BCF5-BD1B7211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22E61"/>
                </a:solidFill>
              </a:defRPr>
            </a:pPr>
            <a:r>
              <a:rPr sz="2400" b="1">
                <a:solidFill>
                  <a:srgbClr val="222E61"/>
                </a:solidFill>
              </a:rPr>
              <a:t>真实后端把雷达、小智、环境和移动端连成闭环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C8ACD-CE73-4247-9741-32E0E901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47418-9A57-4BF3-938D-4D6A4109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UDP 雷达数据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6438B-E960-4E61-9CDA-C37517B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31E5F-E988-4345-A500-8A5767FF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HTTP 设备心跳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4C741-58D2-4B0D-8587-FE1897E4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D2219-75BE-4F9C-8A47-F492CC06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Web 与 Android 同步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B4C31-A332-42B0-9009-9314B5DE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23950"/>
            <a:ext cx="7277100" cy="4210050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EBB2F-2DA6-43B2-961A-EDE82CC4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57300"/>
            <a:ext cx="70104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0D39E-6785-4A59-BAC0-E22E6D83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04950"/>
            <a:ext cx="65151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D1C33-797B-46EA-9965-3143C451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23B89-D81A-4E24-99F8-9C4ABDFD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8BFAD1-D033-4427-B2EE-93ED0C92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录制接口联动：后端运行、设备在线、移动端/网页同步刷新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0A09A-60AD-446E-A5F0-DE8F805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647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768AA-CDF0-4F17-9191-FD55B202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0FB22-B939-4FFF-821D-A169C8D3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1020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7982A6"/>
                </a:solidFill>
              </a:defRPr>
            </a:pPr>
            <a:r>
              <a:rPr sz="1125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2C101-42D8-48D2-939B-842ADB52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29146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0107d98004b3f"/>
          <a:stretch xmlns:a="http://schemas.openxmlformats.org/drawingml/2006/main"/>
        </p:blipFill>
        <p:spPr>
          <a:xfrm xmlns:a="http://schemas.openxmlformats.org/drawingml/2006/main">
            <a:off x="1216025" y="5467350"/>
            <a:ext cx="1397000" cy="83820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32022-F1B5-4A37-B333-7D67B620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982A6"/>
                </a:solidFill>
              </a:defRPr>
            </a:pPr>
            <a:r>
              <a:rPr sz="975">
                <a:solidFill>
                  <a:srgbClr val="7982A6"/>
                </a:solidFill>
              </a:rPr>
              <a:t>系统总体架构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BB153D-2714-46C0-997B-EAD82D5B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673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E2857-DADB-4A06-927A-9D5E4C6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340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25BF2"/>
                </a:solidFill>
              </a:defRPr>
            </a:pPr>
            <a:r>
              <a:rPr sz="1050" b="1">
                <a:solidFill>
                  <a:srgbClr val="325BF2"/>
                </a:solidFill>
              </a:rPr>
              <a:t>视频主画面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3BF05-D12D-4D20-AE01-88138B2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245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E61">
              <a:alpha val="9020"/>
            </a:srgbClr>
          </a:solidFill>
          <a:ln xmlns:a="http://schemas.openxmlformats.org/drawingml/2006/main" w="9525">
            <a:solidFill>
              <a:srgbClr val="222E61">
                <a:alpha val="2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30AA2-11F8-4F65-9C7D-153ADDB7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91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22E61"/>
                </a:solidFill>
              </a:defRPr>
            </a:pPr>
            <a:r>
              <a:rPr sz="1050" b="1">
                <a:solidFill>
                  <a:srgbClr val="222E61"/>
                </a:solidFill>
              </a:rPr>
              <a:t>旁白关键词</a:t>
            </a:r>
          </a:p>
        </p:txBody>
      </p:sp>
    </p:spTree>
    <p:extLst>
      <p:ext uri="{BB962C8B-B14F-4D97-AF65-F5344CB8AC3E}">
        <p14:creationId xmlns:p14="http://schemas.microsoft.com/office/powerpoint/2010/main" val="9896706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76956-218E-4113-8C70-CC632A21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781F2-D942-43F4-803E-A4F8B1F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11000-0F55-4C4C-870D-5186C523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22E61"/>
                </a:solidFill>
              </a:defRPr>
            </a:pPr>
            <a:r>
              <a:rPr sz="3150" b="1">
                <a:solidFill>
                  <a:srgbClr val="222E61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B6919-0ADD-4F65-BBA5-E889A02B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E61"/>
                </a:solidFill>
              </a:defRPr>
            </a:pPr>
            <a:r>
              <a:rPr sz="1500" b="1">
                <a:solidFill>
                  <a:srgbClr val="222E61"/>
                </a:solidFill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26826-0206-46FF-A4C9-818EE5F7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7982A6"/>
                </a:solidFill>
              </a:defRPr>
            </a:pPr>
            <a:r>
              <a:rPr sz="1125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D32F4-6DA0-415C-9830-5142BB9A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50BF5-4B91-4F4B-9B88-B3FC7837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724150" cy="394335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0E852-0539-4740-9811-0ADEF467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524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7B36A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0C677-300E-4363-AE10-3A31FA53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7B36A"/>
                </a:solidFill>
              </a:defRPr>
            </a:pPr>
            <a:r>
              <a:rPr sz="1350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CB64B-21A7-487C-B5B8-D3AD5F3C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22E61"/>
                </a:solidFill>
              </a:defRPr>
            </a:pPr>
            <a:r>
              <a:rPr sz="2400" b="1">
                <a:solidFill>
                  <a:srgbClr val="222E61"/>
                </a:solidFill>
              </a:rPr>
              <a:t>让监测不打扰睡眠，让真正的求助被及时听见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E8EA6-655C-4B40-B9B4-DD7DC8E7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96A34-DEF6-4163-B02B-0D75E029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适合医院与养老院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94656-C620-4B3F-9E83-5840AC64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4EB69-1DE7-4EA2-8AA0-39B7E0C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支持多套设备扩展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33882-D4E8-482C-8D87-081D2632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D6494-8F2F-4E59-8746-FCFB240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C768F"/>
                </a:solidFill>
              </a:defRPr>
            </a:pPr>
            <a:r>
              <a:rPr sz="1350">
                <a:solidFill>
                  <a:srgbClr val="6C768F"/>
                </a:solidFill>
              </a:rPr>
              <a:t>可演示、可部署、可迭代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30F91-A101-4C71-83BB-16B99306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23950"/>
            <a:ext cx="7277100" cy="4210050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9BAD0-7515-4E9B-ADC9-B47E14BA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57300"/>
            <a:ext cx="70104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ABA7A-C248-497B-8B60-27AA9E4B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04950"/>
            <a:ext cx="65151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504C1-94AB-4632-94A3-1B5CAAB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8F9F7-6DFB-494B-862E-AC04CF9F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2BED5-383F-4582-AE1B-5E0139FF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结尾镜头：护士站大屏、Android、开发板同框展示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D480C-A208-4613-8074-1C497DC8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647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D421F-313A-402E-B8AB-D3029A99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6707C-41BF-4E8E-B54C-12E252BD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1020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7982A6"/>
                </a:solidFill>
              </a:defRPr>
            </a:pPr>
            <a:r>
              <a:rPr sz="1125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2CD3B-1988-4CEC-A198-0F8C6871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29146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735f98bc04d7a"/>
          <a:stretch xmlns:a="http://schemas.openxmlformats.org/drawingml/2006/main"/>
        </p:blipFill>
        <p:spPr>
          <a:xfrm xmlns:a="http://schemas.openxmlformats.org/drawingml/2006/main">
            <a:off x="1516615" y="5467350"/>
            <a:ext cx="795819" cy="83820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25553D-EE1B-4D9C-90AC-1B3F2D7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982A6"/>
                </a:solidFill>
              </a:defRPr>
            </a:pPr>
            <a:r>
              <a:rPr sz="975">
                <a:solidFill>
                  <a:srgbClr val="7982A6"/>
                </a:solidFill>
              </a:rPr>
              <a:t>Android 看护端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67D0B-C07D-4196-98A0-DDE5AD9F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673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2672D0-63F4-41F2-83B5-70D2DDF4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340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7B36A"/>
                </a:solidFill>
              </a:defRPr>
            </a:pPr>
            <a:r>
              <a:rPr sz="1050" b="1">
                <a:solidFill>
                  <a:srgbClr val="27B36A"/>
                </a:solidFill>
              </a:rPr>
              <a:t>视频主画面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094D5-D74F-41DC-B5D2-B49232A7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24550"/>
            <a:ext cx="1504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E61">
              <a:alpha val="9020"/>
            </a:srgbClr>
          </a:solidFill>
          <a:ln xmlns:a="http://schemas.openxmlformats.org/drawingml/2006/main" w="9525">
            <a:solidFill>
              <a:srgbClr val="222E61">
                <a:alpha val="2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09E3B6-FAF2-49EF-8F77-544C7AD9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91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22E61"/>
                </a:solidFill>
              </a:defRPr>
            </a:pPr>
            <a:r>
              <a:rPr sz="1050" b="1">
                <a:solidFill>
                  <a:srgbClr val="222E61"/>
                </a:solidFill>
              </a:rPr>
              <a:t>旁白关键词</a:t>
            </a:r>
          </a:p>
        </p:txBody>
      </p:sp>
    </p:spTree>
    <p:extLst>
      <p:ext uri="{BB962C8B-B14F-4D97-AF65-F5344CB8AC3E}">
        <p14:creationId xmlns:p14="http://schemas.microsoft.com/office/powerpoint/2010/main" val="529126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2026-07-04T01:09:11.5960000Z</dcterms:created>
  <dcterms:modified xsi:type="dcterms:W3CDTF">2026-07-04T01:09:11.5970000Z</dcterms:modified>
</coreProperties>
</file>