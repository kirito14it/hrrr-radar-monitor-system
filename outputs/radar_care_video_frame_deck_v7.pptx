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323850"/>
            <a:ext cx="647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00</a:t>
            </a:r>
            <a:endParaRPr sz="3000" b="1">
              <a:solidFill>
                <a:srgbClr val="222E6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257300" y="4000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222E61"/>
                </a:solidFill>
              </a:defRPr>
            </a:pPr>
            <a:r>
              <a:rPr lang="en-US" sz="1350" b="1">
                <a:solidFill>
                  <a:srgbClr val="222E61"/>
                </a:solidFill>
              </a:rPr>
              <a:t>Introduction</a:t>
            </a:r>
            <a:endParaRPr lang="en-US" sz="1350" b="1">
              <a:solidFill>
                <a:srgbClr val="222E61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144000" y="4000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  <a:endParaRPr sz="1050" b="1">
              <a:solidFill>
                <a:srgbClr val="7982A6"/>
              </a:solidFill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552450" y="914400"/>
            <a:ext cx="11087100" cy="0"/>
          </a:xfrm>
          <a:prstGeom prst="line">
            <a:avLst/>
          </a:prstGeom>
          <a:noFill/>
          <a:ln w="9525">
            <a:solidFill>
              <a:srgbClr val="DFE5F0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23570" y="1628775"/>
            <a:ext cx="243903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222E61"/>
                </a:solidFill>
              </a:defRPr>
            </a:pPr>
            <a:r>
              <a:rPr sz="3450" b="1">
                <a:solidFill>
                  <a:srgbClr val="222E61"/>
                </a:solidFill>
              </a:rPr>
              <a:t>非接触式</a:t>
            </a:r>
            <a:endParaRPr sz="3450" b="1">
              <a:solidFill>
                <a:srgbClr val="222E61"/>
              </a:solidFill>
            </a:endParaRPr>
          </a:p>
          <a:p>
            <a:pPr>
              <a:defRPr sz="3450" b="1">
                <a:solidFill>
                  <a:srgbClr val="222E61"/>
                </a:solidFill>
              </a:defRPr>
            </a:pPr>
            <a:r>
              <a:rPr sz="3450" b="1">
                <a:solidFill>
                  <a:srgbClr val="222E61"/>
                </a:solidFill>
              </a:rPr>
              <a:t>睡眠看护</a:t>
            </a:r>
            <a:endParaRPr sz="3450" b="1">
              <a:solidFill>
                <a:srgbClr val="222E6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64820" y="2997200"/>
            <a:ext cx="236601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6C768F"/>
                </a:solidFill>
              </a:defRPr>
            </a:pPr>
            <a:r>
              <a:rPr sz="1650">
                <a:solidFill>
                  <a:srgbClr val="6C768F"/>
                </a:solidFill>
              </a:rPr>
              <a:t>毫米波雷达 × 小智守护</a:t>
            </a:r>
            <a:endParaRPr sz="1650">
              <a:solidFill>
                <a:srgbClr val="6C768F"/>
              </a:solidFill>
            </a:endParaRPr>
          </a:p>
          <a:p>
            <a:pPr>
              <a:defRPr sz="1650">
                <a:solidFill>
                  <a:srgbClr val="6C768F"/>
                </a:solidFill>
              </a:defRPr>
            </a:pPr>
            <a:r>
              <a:rPr sz="1650">
                <a:solidFill>
                  <a:srgbClr val="6C768F"/>
                </a:solidFill>
              </a:rPr>
              <a:t>Web/Android 告警闭环</a:t>
            </a:r>
            <a:endParaRPr sz="1650">
              <a:solidFill>
                <a:srgbClr val="6C768F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81050" y="4095750"/>
            <a:ext cx="1314450" cy="323850"/>
          </a:xfrm>
          <a:prstGeom prst="roundRect">
            <a:avLst>
              <a:gd name="adj" fmla="val 50000"/>
            </a:avLst>
          </a:prstGeom>
          <a:solidFill>
            <a:srgbClr val="325BF2">
              <a:alpha val="9020"/>
            </a:srgbClr>
          </a:solidFill>
          <a:ln w="9525">
            <a:solidFill>
              <a:srgbClr val="325BF2">
                <a:alpha val="26667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4162425"/>
            <a:ext cx="1314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325BF2"/>
                </a:solidFill>
              </a:defRPr>
            </a:pPr>
            <a:r>
              <a:rPr sz="975" b="1">
                <a:solidFill>
                  <a:srgbClr val="325BF2"/>
                </a:solidFill>
              </a:rPr>
              <a:t>无接触监测</a:t>
            </a:r>
            <a:endParaRPr sz="975" b="1">
              <a:solidFill>
                <a:srgbClr val="325BF2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81050" y="5114925"/>
            <a:ext cx="1314450" cy="323850"/>
          </a:xfrm>
          <a:prstGeom prst="roundRect">
            <a:avLst>
              <a:gd name="adj" fmla="val 50000"/>
            </a:avLst>
          </a:prstGeom>
          <a:solidFill>
            <a:srgbClr val="27B36A">
              <a:alpha val="9020"/>
            </a:srgbClr>
          </a:solidFill>
          <a:ln w="9525">
            <a:solidFill>
              <a:srgbClr val="27B36A">
                <a:alpha val="26667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5181600"/>
            <a:ext cx="1314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7B36A"/>
                </a:solidFill>
              </a:defRPr>
            </a:pPr>
            <a:r>
              <a:rPr sz="975" b="1">
                <a:solidFill>
                  <a:srgbClr val="27B36A"/>
                </a:solidFill>
              </a:rPr>
              <a:t>多床位看护</a:t>
            </a:r>
            <a:endParaRPr sz="975" b="1">
              <a:solidFill>
                <a:srgbClr val="27B36A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81050" y="4572000"/>
            <a:ext cx="1314450" cy="323850"/>
          </a:xfrm>
          <a:prstGeom prst="roundRect">
            <a:avLst>
              <a:gd name="adj" fmla="val 50000"/>
            </a:avLst>
          </a:prstGeom>
          <a:solidFill>
            <a:srgbClr val="E23744">
              <a:alpha val="9020"/>
            </a:srgbClr>
          </a:solidFill>
          <a:ln w="9525">
            <a:solidFill>
              <a:srgbClr val="E23744">
                <a:alpha val="26667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81050" y="4638675"/>
            <a:ext cx="1314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E23744"/>
                </a:solidFill>
              </a:defRPr>
            </a:pPr>
            <a:r>
              <a:rPr sz="975" b="1">
                <a:solidFill>
                  <a:srgbClr val="E23744"/>
                </a:solidFill>
              </a:rPr>
              <a:t>告警闭环</a:t>
            </a:r>
            <a:endParaRPr sz="975" b="1">
              <a:solidFill>
                <a:srgbClr val="E23744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2830830" y="838200"/>
            <a:ext cx="9056370" cy="4599940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323850"/>
            <a:ext cx="647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01</a:t>
            </a:r>
            <a:endParaRPr sz="3000" b="1">
              <a:solidFill>
                <a:srgbClr val="222E6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257300" y="4000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Care Scene</a:t>
            </a:r>
            <a:endParaRPr sz="1350" b="1">
              <a:solidFill>
                <a:srgbClr val="222E61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144000" y="4000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  <a:endParaRPr sz="1050" b="1">
              <a:solidFill>
                <a:srgbClr val="7982A6"/>
              </a:solidFill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552450" y="914400"/>
            <a:ext cx="11087100" cy="0"/>
          </a:xfrm>
          <a:prstGeom prst="line">
            <a:avLst/>
          </a:prstGeom>
          <a:noFill/>
          <a:ln w="9525">
            <a:solidFill>
              <a:srgbClr val="DFE5F0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552450" y="1238250"/>
            <a:ext cx="1849120" cy="4229100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8" name="圆角矩形 7"/>
          <p:cNvSpPr>
            <a:spLocks noGrp="1"/>
          </p:cNvSpPr>
          <p:nvPr/>
        </p:nvSpPr>
        <p:spPr>
          <a:xfrm>
            <a:off x="800100" y="15240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325BF2">
              <a:alpha val="12157"/>
            </a:srgbClr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00100" y="16573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325BF2"/>
                </a:solidFill>
              </a:defRPr>
            </a:pPr>
            <a:r>
              <a:rPr sz="1275" b="1">
                <a:solidFill>
                  <a:srgbClr val="325BF2"/>
                </a:solidFill>
              </a:rPr>
              <a:t>RC</a:t>
            </a:r>
            <a:endParaRPr sz="1275" b="1">
              <a:solidFill>
                <a:srgbClr val="325BF2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00100" y="2286000"/>
            <a:ext cx="24765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多床监护</a:t>
            </a:r>
            <a:endParaRPr sz="2100" b="1">
              <a:solidFill>
                <a:srgbClr val="222E61"/>
              </a:solidFill>
            </a:endParaRPr>
          </a:p>
          <a:p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状态总览</a:t>
            </a:r>
            <a:endParaRPr sz="2100" b="1">
              <a:solidFill>
                <a:srgbClr val="222E61"/>
              </a:solidFill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819150" y="3800475"/>
            <a:ext cx="76200" cy="76200"/>
          </a:xfrm>
          <a:prstGeom prst="ellipse">
            <a:avLst/>
          </a:prstGeom>
          <a:solidFill>
            <a:srgbClr val="325BF2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371475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状态分级</a:t>
            </a:r>
            <a:endParaRPr sz="1275">
              <a:solidFill>
                <a:srgbClr val="6C768F"/>
              </a:solidFill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819150" y="4200525"/>
            <a:ext cx="76200" cy="76200"/>
          </a:xfrm>
          <a:prstGeom prst="ellipse">
            <a:avLst/>
          </a:prstGeom>
          <a:solidFill>
            <a:srgbClr val="325BF2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90600" y="411480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异常聚合</a:t>
            </a:r>
            <a:endParaRPr sz="1275">
              <a:solidFill>
                <a:srgbClr val="6C768F"/>
              </a:solidFill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819150" y="4600575"/>
            <a:ext cx="76200" cy="76200"/>
          </a:xfrm>
          <a:prstGeom prst="ellipse">
            <a:avLst/>
          </a:prstGeom>
          <a:solidFill>
            <a:srgbClr val="325BF2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90600" y="451485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快速定位</a:t>
            </a:r>
            <a:endParaRPr sz="1275">
              <a:solidFill>
                <a:srgbClr val="6C768F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2557780" y="838200"/>
            <a:ext cx="9329420" cy="4629785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323850"/>
            <a:ext cx="647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02</a:t>
            </a:r>
            <a:endParaRPr sz="3000" b="1">
              <a:solidFill>
                <a:srgbClr val="222E6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257300" y="4000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Vitals</a:t>
            </a:r>
            <a:endParaRPr sz="1350" b="1">
              <a:solidFill>
                <a:srgbClr val="222E61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144000" y="4000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  <a:endParaRPr sz="1050" b="1">
              <a:solidFill>
                <a:srgbClr val="7982A6"/>
              </a:solidFill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552450" y="914400"/>
            <a:ext cx="11087100" cy="0"/>
          </a:xfrm>
          <a:prstGeom prst="line">
            <a:avLst/>
          </a:prstGeom>
          <a:noFill/>
          <a:ln w="9525">
            <a:solidFill>
              <a:srgbClr val="DFE5F0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552450" y="1238250"/>
            <a:ext cx="1823085" cy="4229100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8" name="圆角矩形 7"/>
          <p:cNvSpPr>
            <a:spLocks noGrp="1"/>
          </p:cNvSpPr>
          <p:nvPr/>
        </p:nvSpPr>
        <p:spPr>
          <a:xfrm>
            <a:off x="800100" y="15240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42C7DF">
              <a:alpha val="12157"/>
            </a:srgbClr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00100" y="16573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42C7DF"/>
                </a:solidFill>
              </a:defRPr>
            </a:pPr>
            <a:r>
              <a:rPr sz="1275" b="1">
                <a:solidFill>
                  <a:srgbClr val="42C7DF"/>
                </a:solidFill>
              </a:rPr>
              <a:t>RC</a:t>
            </a:r>
            <a:endParaRPr sz="1275" b="1">
              <a:solidFill>
                <a:srgbClr val="42C7D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00100" y="2286000"/>
            <a:ext cx="24765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生命体征</a:t>
            </a:r>
            <a:endParaRPr sz="2100" b="1">
              <a:solidFill>
                <a:srgbClr val="222E61"/>
              </a:solidFill>
            </a:endParaRPr>
          </a:p>
          <a:p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实时监测</a:t>
            </a:r>
            <a:endParaRPr sz="2100" b="1">
              <a:solidFill>
                <a:srgbClr val="222E61"/>
              </a:solidFill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819150" y="3800475"/>
            <a:ext cx="76200" cy="76200"/>
          </a:xfrm>
          <a:prstGeom prst="ellipse">
            <a:avLst/>
          </a:prstGeom>
          <a:solidFill>
            <a:srgbClr val="42C7DF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371475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心率</a:t>
            </a:r>
            <a:endParaRPr sz="1275">
              <a:solidFill>
                <a:srgbClr val="6C768F"/>
              </a:solidFill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819150" y="4200525"/>
            <a:ext cx="76200" cy="76200"/>
          </a:xfrm>
          <a:prstGeom prst="ellipse">
            <a:avLst/>
          </a:prstGeom>
          <a:solidFill>
            <a:srgbClr val="42C7D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90600" y="411480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呼吸率</a:t>
            </a:r>
            <a:endParaRPr sz="1275">
              <a:solidFill>
                <a:srgbClr val="6C768F"/>
              </a:solidFill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819150" y="4600575"/>
            <a:ext cx="76200" cy="76200"/>
          </a:xfrm>
          <a:prstGeom prst="ellipse">
            <a:avLst/>
          </a:prstGeom>
          <a:solidFill>
            <a:srgbClr val="42C7DF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90600" y="451485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呼噜趋势</a:t>
            </a:r>
            <a:endParaRPr sz="1275">
              <a:solidFill>
                <a:srgbClr val="6C768F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2552065" y="838200"/>
            <a:ext cx="9335135" cy="4577715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323850"/>
            <a:ext cx="647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03</a:t>
            </a:r>
            <a:endParaRPr sz="3000" b="1">
              <a:solidFill>
                <a:srgbClr val="222E6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257300" y="4000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Environment</a:t>
            </a:r>
            <a:endParaRPr sz="1350" b="1">
              <a:solidFill>
                <a:srgbClr val="222E61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144000" y="4000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  <a:endParaRPr sz="1050" b="1">
              <a:solidFill>
                <a:srgbClr val="7982A6"/>
              </a:solidFill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552450" y="914400"/>
            <a:ext cx="11087100" cy="0"/>
          </a:xfrm>
          <a:prstGeom prst="line">
            <a:avLst/>
          </a:prstGeom>
          <a:noFill/>
          <a:ln w="9525">
            <a:solidFill>
              <a:srgbClr val="DFE5F0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552450" y="1238250"/>
            <a:ext cx="1741170" cy="4229100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8" name="圆角矩形 7"/>
          <p:cNvSpPr>
            <a:spLocks noGrp="1"/>
          </p:cNvSpPr>
          <p:nvPr/>
        </p:nvSpPr>
        <p:spPr>
          <a:xfrm>
            <a:off x="800100" y="15240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EE9B2D">
              <a:alpha val="12157"/>
            </a:srgbClr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00100" y="16573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EE9B2D"/>
                </a:solidFill>
              </a:defRPr>
            </a:pPr>
            <a:r>
              <a:rPr sz="1275" b="1">
                <a:solidFill>
                  <a:srgbClr val="EE9B2D"/>
                </a:solidFill>
              </a:rPr>
              <a:t>RC</a:t>
            </a:r>
            <a:endParaRPr sz="1275" b="1">
              <a:solidFill>
                <a:srgbClr val="EE9B2D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00100" y="2286000"/>
            <a:ext cx="24765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睡眠环境</a:t>
            </a:r>
            <a:endParaRPr sz="2100" b="1">
              <a:solidFill>
                <a:srgbClr val="222E61"/>
              </a:solidFill>
            </a:endParaRPr>
          </a:p>
          <a:p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持续分析</a:t>
            </a:r>
            <a:endParaRPr sz="2100" b="1">
              <a:solidFill>
                <a:srgbClr val="222E61"/>
              </a:solidFill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819150" y="3800475"/>
            <a:ext cx="76200" cy="76200"/>
          </a:xfrm>
          <a:prstGeom prst="ellipse">
            <a:avLst/>
          </a:prstGeom>
          <a:solidFill>
            <a:srgbClr val="EE9B2D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371475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温度</a:t>
            </a:r>
            <a:endParaRPr sz="1275">
              <a:solidFill>
                <a:srgbClr val="6C768F"/>
              </a:solidFill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819150" y="4200525"/>
            <a:ext cx="76200" cy="76200"/>
          </a:xfrm>
          <a:prstGeom prst="ellipse">
            <a:avLst/>
          </a:prstGeom>
          <a:solidFill>
            <a:srgbClr val="EE9B2D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90600" y="411480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湿度</a:t>
            </a:r>
            <a:endParaRPr sz="1275">
              <a:solidFill>
                <a:srgbClr val="6C768F"/>
              </a:solidFill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819150" y="4600575"/>
            <a:ext cx="76200" cy="76200"/>
          </a:xfrm>
          <a:prstGeom prst="ellipse">
            <a:avLst/>
          </a:prstGeom>
          <a:solidFill>
            <a:srgbClr val="EE9B2D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90600" y="451485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环境声</a:t>
            </a:r>
            <a:endParaRPr sz="1275">
              <a:solidFill>
                <a:srgbClr val="6C768F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2604770" y="838200"/>
            <a:ext cx="9282430" cy="4628515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323850"/>
            <a:ext cx="647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04</a:t>
            </a:r>
            <a:endParaRPr sz="3000" b="1">
              <a:solidFill>
                <a:srgbClr val="222E6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257300" y="4000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Guard Mode</a:t>
            </a:r>
            <a:endParaRPr sz="1350" b="1">
              <a:solidFill>
                <a:srgbClr val="222E61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144000" y="4000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  <a:endParaRPr sz="1050" b="1">
              <a:solidFill>
                <a:srgbClr val="7982A6"/>
              </a:solidFill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552450" y="914400"/>
            <a:ext cx="11087100" cy="0"/>
          </a:xfrm>
          <a:prstGeom prst="line">
            <a:avLst/>
          </a:prstGeom>
          <a:noFill/>
          <a:ln w="9525">
            <a:solidFill>
              <a:srgbClr val="DFE5F0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552450" y="1238250"/>
            <a:ext cx="1808480" cy="4229100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8" name="圆角矩形 7"/>
          <p:cNvSpPr>
            <a:spLocks noGrp="1"/>
          </p:cNvSpPr>
          <p:nvPr/>
        </p:nvSpPr>
        <p:spPr>
          <a:xfrm>
            <a:off x="800100" y="15240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27B36A">
              <a:alpha val="12157"/>
            </a:srgbClr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00100" y="16573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7B36A"/>
                </a:solidFill>
              </a:defRPr>
            </a:pPr>
            <a:r>
              <a:rPr sz="1275" b="1">
                <a:solidFill>
                  <a:srgbClr val="27B36A"/>
                </a:solidFill>
              </a:rPr>
              <a:t>RC</a:t>
            </a:r>
            <a:endParaRPr sz="1275" b="1">
              <a:solidFill>
                <a:srgbClr val="27B36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00100" y="2286000"/>
            <a:ext cx="24765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小智终端</a:t>
            </a:r>
            <a:endParaRPr sz="2100" b="1">
              <a:solidFill>
                <a:srgbClr val="222E61"/>
              </a:solidFill>
            </a:endParaRPr>
          </a:p>
          <a:p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守护在线</a:t>
            </a:r>
            <a:endParaRPr sz="2100" b="1">
              <a:solidFill>
                <a:srgbClr val="222E61"/>
              </a:solidFill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819150" y="3800475"/>
            <a:ext cx="76200" cy="76200"/>
          </a:xfrm>
          <a:prstGeom prst="ellipse">
            <a:avLst/>
          </a:prstGeom>
          <a:solidFill>
            <a:srgbClr val="27B36A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371475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守护模式在线</a:t>
            </a:r>
            <a:endParaRPr sz="1275">
              <a:solidFill>
                <a:srgbClr val="6C768F"/>
              </a:solidFill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819150" y="4200525"/>
            <a:ext cx="76200" cy="76200"/>
          </a:xfrm>
          <a:prstGeom prst="ellipse">
            <a:avLst/>
          </a:prstGeom>
          <a:solidFill>
            <a:srgbClr val="27B36A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90600" y="411480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本地呼噜检测</a:t>
            </a:r>
            <a:endParaRPr sz="1275">
              <a:solidFill>
                <a:srgbClr val="6C768F"/>
              </a:solidFill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819150" y="4600575"/>
            <a:ext cx="76200" cy="76200"/>
          </a:xfrm>
          <a:prstGeom prst="ellipse">
            <a:avLst/>
          </a:prstGeom>
          <a:solidFill>
            <a:srgbClr val="27B36A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90600" y="451485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语音求助</a:t>
            </a:r>
            <a:endParaRPr sz="1275">
              <a:solidFill>
                <a:srgbClr val="6C768F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2561590" y="838200"/>
            <a:ext cx="9325610" cy="4628515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323850"/>
            <a:ext cx="647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05</a:t>
            </a:r>
            <a:endParaRPr sz="3000" b="1">
              <a:solidFill>
                <a:srgbClr val="222E6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257300" y="4000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Emergency</a:t>
            </a:r>
            <a:endParaRPr sz="1350" b="1">
              <a:solidFill>
                <a:srgbClr val="222E61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144000" y="4000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  <a:endParaRPr sz="1050" b="1">
              <a:solidFill>
                <a:srgbClr val="7982A6"/>
              </a:solidFill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552450" y="914400"/>
            <a:ext cx="11087100" cy="0"/>
          </a:xfrm>
          <a:prstGeom prst="line">
            <a:avLst/>
          </a:prstGeom>
          <a:noFill/>
          <a:ln w="9525">
            <a:solidFill>
              <a:srgbClr val="DFE5F0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552450" y="1238250"/>
            <a:ext cx="1787525" cy="4229100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8" name="圆角矩形 7"/>
          <p:cNvSpPr>
            <a:spLocks noGrp="1"/>
          </p:cNvSpPr>
          <p:nvPr/>
        </p:nvSpPr>
        <p:spPr>
          <a:xfrm>
            <a:off x="800100" y="15240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E23744">
              <a:alpha val="12157"/>
            </a:srgbClr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00100" y="16573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E23744"/>
                </a:solidFill>
              </a:defRPr>
            </a:pPr>
            <a:r>
              <a:rPr sz="1275" b="1">
                <a:solidFill>
                  <a:srgbClr val="E23744"/>
                </a:solidFill>
              </a:rPr>
              <a:t>RC</a:t>
            </a:r>
            <a:endParaRPr sz="1275" b="1">
              <a:solidFill>
                <a:srgbClr val="E23744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00100" y="2286000"/>
            <a:ext cx="24765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紧急告警</a:t>
            </a:r>
            <a:endParaRPr sz="2100" b="1">
              <a:solidFill>
                <a:srgbClr val="222E61"/>
              </a:solidFill>
            </a:endParaRPr>
          </a:p>
          <a:p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闭环处理</a:t>
            </a:r>
            <a:endParaRPr sz="2100" b="1">
              <a:solidFill>
                <a:srgbClr val="222E61"/>
              </a:solidFill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819150" y="3800475"/>
            <a:ext cx="76200" cy="76200"/>
          </a:xfrm>
          <a:prstGeom prst="ellipse">
            <a:avLst/>
          </a:prstGeom>
          <a:solidFill>
            <a:srgbClr val="E23744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371475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端侧触发</a:t>
            </a:r>
            <a:endParaRPr sz="1275">
              <a:solidFill>
                <a:srgbClr val="6C768F"/>
              </a:solidFill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819150" y="4200525"/>
            <a:ext cx="76200" cy="76200"/>
          </a:xfrm>
          <a:prstGeom prst="ellipse">
            <a:avLst/>
          </a:prstGeom>
          <a:solidFill>
            <a:srgbClr val="E23744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90600" y="411480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大屏播报</a:t>
            </a:r>
            <a:endParaRPr sz="1275">
              <a:solidFill>
                <a:srgbClr val="6C768F"/>
              </a:solidFill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819150" y="4600575"/>
            <a:ext cx="76200" cy="76200"/>
          </a:xfrm>
          <a:prstGeom prst="ellipse">
            <a:avLst/>
          </a:prstGeom>
          <a:solidFill>
            <a:srgbClr val="E23744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90600" y="451485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处理解除</a:t>
            </a:r>
            <a:endParaRPr sz="1275">
              <a:solidFill>
                <a:srgbClr val="6C768F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2531110" y="838200"/>
            <a:ext cx="9356090" cy="4629785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323850"/>
            <a:ext cx="647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06</a:t>
            </a:r>
            <a:endParaRPr sz="3000" b="1">
              <a:solidFill>
                <a:srgbClr val="222E6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257300" y="4000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Architecture</a:t>
            </a:r>
            <a:endParaRPr sz="1350" b="1">
              <a:solidFill>
                <a:srgbClr val="222E61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144000" y="4000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  <a:endParaRPr sz="1050" b="1">
              <a:solidFill>
                <a:srgbClr val="7982A6"/>
              </a:solidFill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552450" y="914400"/>
            <a:ext cx="11087100" cy="0"/>
          </a:xfrm>
          <a:prstGeom prst="line">
            <a:avLst/>
          </a:prstGeom>
          <a:noFill/>
          <a:ln w="9525">
            <a:solidFill>
              <a:srgbClr val="DFE5F0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552450" y="1238250"/>
            <a:ext cx="1804670" cy="4229100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8" name="圆角矩形 7"/>
          <p:cNvSpPr>
            <a:spLocks noGrp="1"/>
          </p:cNvSpPr>
          <p:nvPr/>
        </p:nvSpPr>
        <p:spPr>
          <a:xfrm>
            <a:off x="800100" y="15240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325BF2">
              <a:alpha val="12157"/>
            </a:srgbClr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00100" y="16573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325BF2"/>
                </a:solidFill>
              </a:defRPr>
            </a:pPr>
            <a:r>
              <a:rPr sz="1275" b="1">
                <a:solidFill>
                  <a:srgbClr val="325BF2"/>
                </a:solidFill>
              </a:rPr>
              <a:t>RC</a:t>
            </a:r>
            <a:endParaRPr sz="1275" b="1">
              <a:solidFill>
                <a:srgbClr val="325BF2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00100" y="2286000"/>
            <a:ext cx="24765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多端联动</a:t>
            </a:r>
            <a:endParaRPr sz="2100" b="1">
              <a:solidFill>
                <a:srgbClr val="222E61"/>
              </a:solidFill>
            </a:endParaRPr>
          </a:p>
          <a:p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数据闭环</a:t>
            </a:r>
            <a:endParaRPr sz="2100" b="1">
              <a:solidFill>
                <a:srgbClr val="222E61"/>
              </a:solidFill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819150" y="3800475"/>
            <a:ext cx="76200" cy="76200"/>
          </a:xfrm>
          <a:prstGeom prst="ellipse">
            <a:avLst/>
          </a:prstGeom>
          <a:solidFill>
            <a:srgbClr val="325BF2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371475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雷达 UDP</a:t>
            </a:r>
            <a:endParaRPr sz="1275">
              <a:solidFill>
                <a:srgbClr val="6C768F"/>
              </a:solidFill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819150" y="4200525"/>
            <a:ext cx="76200" cy="76200"/>
          </a:xfrm>
          <a:prstGeom prst="ellipse">
            <a:avLst/>
          </a:prstGeom>
          <a:solidFill>
            <a:srgbClr val="325BF2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90600" y="411480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设备心跳</a:t>
            </a:r>
            <a:endParaRPr sz="1275">
              <a:solidFill>
                <a:srgbClr val="6C768F"/>
              </a:solidFill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819150" y="4600575"/>
            <a:ext cx="76200" cy="76200"/>
          </a:xfrm>
          <a:prstGeom prst="ellipse">
            <a:avLst/>
          </a:prstGeom>
          <a:solidFill>
            <a:srgbClr val="325BF2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90600" y="451485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Web / App</a:t>
            </a:r>
            <a:endParaRPr sz="1275">
              <a:solidFill>
                <a:srgbClr val="6C768F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2543810" y="838200"/>
            <a:ext cx="9343390" cy="4628515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323850"/>
            <a:ext cx="647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07</a:t>
            </a:r>
            <a:endParaRPr sz="3000" b="1">
              <a:solidFill>
                <a:srgbClr val="222E6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257300" y="4000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Close</a:t>
            </a:r>
            <a:endParaRPr sz="1350" b="1">
              <a:solidFill>
                <a:srgbClr val="222E61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144000" y="4000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  <a:endParaRPr sz="1050" b="1">
              <a:solidFill>
                <a:srgbClr val="7982A6"/>
              </a:solidFill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552450" y="914400"/>
            <a:ext cx="11087100" cy="0"/>
          </a:xfrm>
          <a:prstGeom prst="line">
            <a:avLst/>
          </a:prstGeom>
          <a:noFill/>
          <a:ln w="9525">
            <a:solidFill>
              <a:srgbClr val="DFE5F0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552450" y="1238250"/>
            <a:ext cx="1766570" cy="4229100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8" name="圆角矩形 7"/>
          <p:cNvSpPr>
            <a:spLocks noGrp="1"/>
          </p:cNvSpPr>
          <p:nvPr/>
        </p:nvSpPr>
        <p:spPr>
          <a:xfrm>
            <a:off x="800100" y="15240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27B36A">
              <a:alpha val="12157"/>
            </a:srgbClr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00100" y="16573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7B36A"/>
                </a:solidFill>
              </a:defRPr>
            </a:pPr>
            <a:r>
              <a:rPr sz="1275" b="1">
                <a:solidFill>
                  <a:srgbClr val="27B36A"/>
                </a:solidFill>
              </a:rPr>
              <a:t>RC</a:t>
            </a:r>
            <a:endParaRPr sz="1275" b="1">
              <a:solidFill>
                <a:srgbClr val="27B36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00100" y="2286000"/>
            <a:ext cx="24765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产品价值</a:t>
            </a:r>
            <a:endParaRPr sz="2100" b="1">
              <a:solidFill>
                <a:srgbClr val="222E61"/>
              </a:solidFill>
            </a:endParaRPr>
          </a:p>
          <a:p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场景落地</a:t>
            </a:r>
            <a:endParaRPr sz="2100" b="1">
              <a:solidFill>
                <a:srgbClr val="222E61"/>
              </a:solidFill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819150" y="3800475"/>
            <a:ext cx="76200" cy="76200"/>
          </a:xfrm>
          <a:prstGeom prst="ellipse">
            <a:avLst/>
          </a:prstGeom>
          <a:solidFill>
            <a:srgbClr val="27B36A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371475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低打扰</a:t>
            </a:r>
            <a:endParaRPr sz="1275">
              <a:solidFill>
                <a:srgbClr val="6C768F"/>
              </a:solidFill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819150" y="4200525"/>
            <a:ext cx="76200" cy="76200"/>
          </a:xfrm>
          <a:prstGeom prst="ellipse">
            <a:avLst/>
          </a:prstGeom>
          <a:solidFill>
            <a:srgbClr val="27B36A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90600" y="411480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可扩展</a:t>
            </a:r>
            <a:endParaRPr sz="1275">
              <a:solidFill>
                <a:srgbClr val="6C768F"/>
              </a:solidFill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819150" y="4600575"/>
            <a:ext cx="76200" cy="76200"/>
          </a:xfrm>
          <a:prstGeom prst="ellipse">
            <a:avLst/>
          </a:prstGeom>
          <a:solidFill>
            <a:srgbClr val="27B36A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90600" y="451485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可落地</a:t>
            </a:r>
            <a:endParaRPr sz="1275">
              <a:solidFill>
                <a:srgbClr val="6C768F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2531110" y="838200"/>
            <a:ext cx="9356090" cy="4629785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9525">
            <a:solidFill>
              <a:srgbClr val="DFE5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447</Words>
  <Application>WPS 演示</Application>
  <PresentationFormat>Converted Presentation</PresentationFormat>
  <Paragraphs>137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宋体</vt:lpstr>
      <vt:lpstr>Wingdings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陈俊帆</cp:lastModifiedBy>
  <cp:revision>1</cp:revision>
  <dcterms:created xsi:type="dcterms:W3CDTF">2026-07-05T04:47:26Z</dcterms:created>
  <dcterms:modified xsi:type="dcterms:W3CDTF">2026-07-05T04:47:30Z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A7B961A7A941477892629ED9DFA4DB2B_12</vt:lpwstr>
  </property>
</Properties>
</file>