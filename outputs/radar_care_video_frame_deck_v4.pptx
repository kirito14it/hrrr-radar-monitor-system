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c205f1551248a1" /><Relationship Type="http://schemas.openxmlformats.org/officeDocument/2006/relationships/extended-properties" Target="/docProps/app.xml" Id="R469ac4420e494600" /><Relationship Type="http://schemas.openxmlformats.org/officeDocument/2006/relationships/officeDocument" Target="/ppt/presentation.xml" Id="Rdd0071be868c43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64a1359d0442bc"/>
  </p:sldMasterIdLst>
  <p:notesMasterIdLst>
    <p:notesMasterId xmlns:r="http://schemas.openxmlformats.org/officeDocument/2006/relationships" r:id="R212e42418bed498f"/>
  </p:notesMasterIdLst>
  <p:sldIdLst>
    <p:sldId xmlns:r="http://schemas.openxmlformats.org/officeDocument/2006/relationships" id="256" r:id="R4fa10ba7a21e42df"/>
    <p:sldId xmlns:r="http://schemas.openxmlformats.org/officeDocument/2006/relationships" id="257" r:id="R54a21d6a4d8b459a"/>
    <p:sldId xmlns:r="http://schemas.openxmlformats.org/officeDocument/2006/relationships" id="258" r:id="R6867931a999f49bb"/>
    <p:sldId xmlns:r="http://schemas.openxmlformats.org/officeDocument/2006/relationships" id="259" r:id="R107caa790bbb4789"/>
    <p:sldId xmlns:r="http://schemas.openxmlformats.org/officeDocument/2006/relationships" id="260" r:id="R4286011af03a4230"/>
    <p:sldId xmlns:r="http://schemas.openxmlformats.org/officeDocument/2006/relationships" id="261" r:id="Rcbbca8445a4a4ea8"/>
    <p:sldId xmlns:r="http://schemas.openxmlformats.org/officeDocument/2006/relationships" id="262" r:id="R4d4ed32be91545bb"/>
    <p:sldId xmlns:r="http://schemas.openxmlformats.org/officeDocument/2006/relationships" id="263" r:id="R06aa9ef5b3974d7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e1d147c1d54757" /><Relationship Type="http://schemas.openxmlformats.org/officeDocument/2006/relationships/slideMaster" Target="/ppt/slideMasters/slideMaster1.xml" Id="Re464a1359d0442bc" /><Relationship Type="http://schemas.openxmlformats.org/officeDocument/2006/relationships/notesMaster" Target="/ppt/notesMasters/notesMaster1.xml" Id="R212e42418bed498f" /><Relationship Type="http://schemas.openxmlformats.org/officeDocument/2006/relationships/presProps" Target="/ppt/presProps.xml" Id="R700e22fa8886405f" /><Relationship Type="http://schemas.openxmlformats.org/officeDocument/2006/relationships/tableStyles" Target="/ppt/tableStyles.xml" Id="R8947dbf4828a45d3" /><Relationship Type="http://schemas.openxmlformats.org/officeDocument/2006/relationships/slide" Target="/ppt/slides/slide1.xml" Id="R4fa10ba7a21e42df" /><Relationship Type="http://schemas.openxmlformats.org/officeDocument/2006/relationships/slide" Target="/ppt/slides/slide2.xml" Id="R54a21d6a4d8b459a" /><Relationship Type="http://schemas.openxmlformats.org/officeDocument/2006/relationships/slide" Target="/ppt/slides/slide3.xml" Id="R6867931a999f49bb" /><Relationship Type="http://schemas.openxmlformats.org/officeDocument/2006/relationships/slide" Target="/ppt/slides/slide4.xml" Id="R107caa790bbb4789" /><Relationship Type="http://schemas.openxmlformats.org/officeDocument/2006/relationships/slide" Target="/ppt/slides/slide5.xml" Id="R4286011af03a4230" /><Relationship Type="http://schemas.openxmlformats.org/officeDocument/2006/relationships/slide" Target="/ppt/slides/slide6.xml" Id="Rcbbca8445a4a4ea8" /><Relationship Type="http://schemas.openxmlformats.org/officeDocument/2006/relationships/slide" Target="/ppt/slides/slide7.xml" Id="R4d4ed32be91545bb" /><Relationship Type="http://schemas.openxmlformats.org/officeDocument/2006/relationships/slide" Target="/ppt/slides/slide8.xml" Id="R06aa9ef5b3974d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45d9bca4f645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d5ea4349a24db9" /><Relationship Type="http://schemas.openxmlformats.org/officeDocument/2006/relationships/notesMaster" Target="/ppt/notesMasters/notesMaster1.xml" Id="Rb0bb4e019f8946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b421985b374e62" /><Relationship Type="http://schemas.openxmlformats.org/officeDocument/2006/relationships/notesMaster" Target="/ppt/notesMasters/notesMaster1.xml" Id="R40f089b1ad3242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5a0b73d591c4647" /><Relationship Type="http://schemas.openxmlformats.org/officeDocument/2006/relationships/notesMaster" Target="/ppt/notesMasters/notesMaster1.xml" Id="Rb24be902171d49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09eb3787044db6" /><Relationship Type="http://schemas.openxmlformats.org/officeDocument/2006/relationships/notesMaster" Target="/ppt/notesMasters/notesMaster1.xml" Id="Ra228c43a86d44a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73689dad9f47c6" /><Relationship Type="http://schemas.openxmlformats.org/officeDocument/2006/relationships/notesMaster" Target="/ppt/notesMasters/notesMaster1.xml" Id="Ra7a07a02ee6540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44a9d9bd8d48d9" /><Relationship Type="http://schemas.openxmlformats.org/officeDocument/2006/relationships/notesMaster" Target="/ppt/notesMasters/notesMaster1.xml" Id="R7d7fd55872e845a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0da2823e4e44903" /><Relationship Type="http://schemas.openxmlformats.org/officeDocument/2006/relationships/notesMaster" Target="/ppt/notesMasters/notesMaster1.xml" Id="R06a49464b9b84a7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de5600861724388" /><Relationship Type="http://schemas.openxmlformats.org/officeDocument/2006/relationships/notesMaster" Target="/ppt/notesMasters/notesMaster1.xml" Id="R390004675b0742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456748328440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3784d5cdd44874" /><Relationship Type="http://schemas.openxmlformats.org/officeDocument/2006/relationships/slideLayout" Target="/ppt/slideLayouts/slideLayout1.xml" Id="Raab4730a0c8a48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b4730a0c8a48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ed3ac7765047c3" /><Relationship Type="http://schemas.openxmlformats.org/officeDocument/2006/relationships/notesSlide" Target="/ppt/notesSlides/notesSlide1.xml" Id="R812837be4b4c49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aa3a6f1ad24e9c" /><Relationship Type="http://schemas.openxmlformats.org/officeDocument/2006/relationships/notesSlide" Target="/ppt/notesSlides/notesSlide2.xml" Id="R6e3b092b471746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19f14370b6405c" /><Relationship Type="http://schemas.openxmlformats.org/officeDocument/2006/relationships/notesSlide" Target="/ppt/notesSlides/notesSlide3.xml" Id="Rcf59ff0d4be747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5f52559f444eaa" /><Relationship Type="http://schemas.openxmlformats.org/officeDocument/2006/relationships/notesSlide" Target="/ppt/notesSlides/notesSlide4.xml" Id="R8139c71636f94b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f5e817ad564b01" /><Relationship Type="http://schemas.openxmlformats.org/officeDocument/2006/relationships/notesSlide" Target="/ppt/notesSlides/notesSlide5.xml" Id="R400d522f10064e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56355317214239" /><Relationship Type="http://schemas.openxmlformats.org/officeDocument/2006/relationships/notesSlide" Target="/ppt/notesSlides/notesSlide6.xml" Id="R5dc8a1569c0f41f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5fcc1816f149d7" /><Relationship Type="http://schemas.openxmlformats.org/officeDocument/2006/relationships/notesSlide" Target="/ppt/notesSlides/notesSlide7.xml" Id="Rab865cd3fd164dc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6696ba248d4a93" /><Relationship Type="http://schemas.openxmlformats.org/officeDocument/2006/relationships/notesSlide" Target="/ppt/notesSlides/notesSlide8.xml" Id="Rcd15ba12ce474dc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ADB81E-A1F1-4302-880C-1B572800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A46A22-8E56-407D-8215-A3CA7279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222E61"/>
                </a:solidFill>
              </a:defRPr>
            </a:pPr>
            <a:r>
              <a:rPr sz="3000" b="1">
                <a:solidFill>
                  <a:srgbClr val="222E61"/>
                </a:solidFill>
              </a:rPr>
              <a:t>00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E6B302-2B40-4C4A-AF9B-BEA9CD04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22E61"/>
                </a:solidFill>
              </a:defRPr>
            </a:pPr>
            <a:r>
              <a:rPr sz="1350" b="1">
                <a:solidFill>
                  <a:srgbClr val="222E61"/>
                </a:solidFill>
              </a:rPr>
              <a:t>Video Package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32A5D0-5704-4D46-8E3D-7909F0FA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7982A6"/>
                </a:solidFill>
              </a:defRPr>
            </a:pPr>
            <a:r>
              <a:rPr sz="1050" b="1">
                <a:solidFill>
                  <a:srgbClr val="7982A6"/>
                </a:solidFill>
              </a:rPr>
              <a:t>Radar Care · 生命体征监测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FE076A-DE3F-4483-8E9C-84FDD7D9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5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D045E9-E7F8-455A-88FB-AA1EA246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2762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222E61"/>
                </a:solidFill>
              </a:defRPr>
            </a:pPr>
            <a:r>
              <a:rPr sz="3450" b="1">
                <a:solidFill>
                  <a:srgbClr val="222E61"/>
                </a:solidFill>
              </a:rPr>
              <a:t>非接触式</a:t>
            </a:r>
          </a:p>
          <a:p xmlns:a="http://schemas.openxmlformats.org/drawingml/2006/main">
            <a:pPr>
              <a:buNone/>
              <a:defRPr sz="3450" b="1">
                <a:solidFill>
                  <a:srgbClr val="222E61"/>
                </a:solidFill>
              </a:defRPr>
            </a:pPr>
            <a:r>
              <a:rPr sz="3450" b="1">
                <a:solidFill>
                  <a:srgbClr val="222E61"/>
                </a:solidFill>
              </a:rPr>
              <a:t>睡眠看护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F9EFC9-8097-41EE-A2C7-77F419F3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2781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6C768F"/>
                </a:solidFill>
              </a:defRPr>
            </a:pPr>
            <a:r>
              <a:rPr sz="1650">
                <a:solidFill>
                  <a:srgbClr val="6C768F"/>
                </a:solidFill>
              </a:rPr>
              <a:t>毫米波雷达 × 小智守护</a:t>
            </a:r>
          </a:p>
          <a:p xmlns:a="http://schemas.openxmlformats.org/drawingml/2006/main">
            <a:pPr>
              <a:buNone/>
              <a:defRPr sz="1650">
                <a:solidFill>
                  <a:srgbClr val="6C768F"/>
                </a:solidFill>
              </a:defRPr>
            </a:pPr>
            <a:r>
              <a:rPr sz="1650">
                <a:solidFill>
                  <a:srgbClr val="6C768F"/>
                </a:solidFill>
              </a:rPr>
              <a:t>Web/Android 告警闭环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26F832-CD87-4A0B-9E30-4E948D53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1314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5BF2">
              <a:alpha val="9020"/>
            </a:srgbClr>
          </a:solidFill>
          <a:ln xmlns:a="http://schemas.openxmlformats.org/drawingml/2006/main" w="9525">
            <a:solidFill>
              <a:srgbClr val="325BF2">
                <a:alpha val="26667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1900A5-E319-4472-B787-F6688F5F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62425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325BF2"/>
                </a:solidFill>
              </a:defRPr>
            </a:pPr>
            <a:r>
              <a:rPr sz="975" b="1">
                <a:solidFill>
                  <a:srgbClr val="325BF2"/>
                </a:solidFill>
              </a:rPr>
              <a:t>无接触监测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F33C36-DA2B-41DC-A60E-A4EAC81C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095750"/>
            <a:ext cx="1314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B36A">
              <a:alpha val="9020"/>
            </a:srgbClr>
          </a:solidFill>
          <a:ln xmlns:a="http://schemas.openxmlformats.org/drawingml/2006/main" w="9525">
            <a:solidFill>
              <a:srgbClr val="27B36A">
                <a:alpha val="26667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ED4D9A-4228-410A-83ED-01B89653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62425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27B36A"/>
                </a:solidFill>
              </a:defRPr>
            </a:pPr>
            <a:r>
              <a:rPr sz="975" b="1">
                <a:solidFill>
                  <a:srgbClr val="27B36A"/>
                </a:solidFill>
              </a:rPr>
              <a:t>多床位看护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C3CDE1-B6C9-4FF1-9AE6-E79E0541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1314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3744">
              <a:alpha val="9020"/>
            </a:srgbClr>
          </a:solidFill>
          <a:ln xmlns:a="http://schemas.openxmlformats.org/drawingml/2006/main" w="9525">
            <a:solidFill>
              <a:srgbClr val="E23744">
                <a:alpha val="26667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4BD2B7-2ECD-4CE9-9A22-84948910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38675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E23744"/>
                </a:solidFill>
              </a:defRPr>
            </a:pPr>
            <a:r>
              <a:rPr sz="975" b="1">
                <a:solidFill>
                  <a:srgbClr val="E23744"/>
                </a:solidFill>
              </a:rPr>
              <a:t>告警闭环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548E01-B129-43CE-80C7-15BEEC9A3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085850"/>
            <a:ext cx="7829550" cy="453390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166699-4552-4DC7-BF59-410551A9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238250"/>
            <a:ext cx="7524750" cy="422910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19050">
            <a:solidFill>
              <a:srgbClr val="1F2A4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881C1E-7F53-435F-AB34-870BB4D5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43050"/>
            <a:ext cx="691515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B365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DACDC3-BAE7-4DE1-A051-C33FD54D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432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A7BF0B-743B-4DD0-8057-4FAE839C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67665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视频画面放置区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869897-E716-452B-9404-095308DE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114800"/>
            <a:ext cx="607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开场镜头：项目全景、设备亮相、主屏进入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1A4476-6D84-49A0-B317-335B256C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48250"/>
            <a:ext cx="6838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BD714F-FCF2-4AD1-BAD6-2E190F80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48250"/>
            <a:ext cx="1295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8B5A68-4F79-4169-B11A-9E54CE41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676900"/>
            <a:ext cx="752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7982A6"/>
                </a:solidFill>
              </a:defRPr>
            </a:pPr>
            <a:r>
              <a:rPr sz="1050">
                <a:solidFill>
                  <a:srgbClr val="7982A6"/>
                </a:solidFill>
              </a:rPr>
              <a:t>把录好的视频拖入此框，保持 16:9 裁切</a:t>
            </a:r>
          </a:p>
        </p:txBody>
      </p:sp>
    </p:spTree>
    <p:extLst>
      <p:ext uri="{BB962C8B-B14F-4D97-AF65-F5344CB8AC3E}">
        <p14:creationId xmlns:p14="http://schemas.microsoft.com/office/powerpoint/2010/main" val="29696208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E4C085-8B0B-4FED-B1ED-83AA78E3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C57D8F-9FBB-4B81-B38E-032404220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222E61"/>
                </a:solidFill>
              </a:defRPr>
            </a:pPr>
            <a:r>
              <a:rPr sz="3000" b="1">
                <a:solidFill>
                  <a:srgbClr val="222E61"/>
                </a:solidFill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9B0F10-7058-426D-85F2-8FC5E512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22E61"/>
                </a:solidFill>
              </a:defRPr>
            </a:pPr>
            <a:r>
              <a:rPr sz="1350" b="1">
                <a:solidFill>
                  <a:srgbClr val="222E61"/>
                </a:solidFill>
              </a:rPr>
              <a:t>Care Scene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30FDBB-443D-4C70-A270-5846874E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7982A6"/>
                </a:solidFill>
              </a:defRPr>
            </a:pPr>
            <a:r>
              <a:rPr sz="1050" b="1">
                <a:solidFill>
                  <a:srgbClr val="7982A6"/>
                </a:solidFill>
              </a:rPr>
              <a:t>Radar Care · 生命体征监测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39154D-42D2-4B9A-9AA7-300E10BA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5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0A821C-C115-4DC3-AB31-0A4B568A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3067050" cy="4229100"/>
          </a:xfrm>
          <a:prstGeom xmlns:a="http://schemas.openxmlformats.org/drawingml/2006/main" prst="roundRect">
            <a:avLst>
              <a:gd name="adj" fmla="val 74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06C8EA-8018-45CA-B517-BC145D75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325BF2">
              <a:alpha val="1215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E6D845-3E30-424C-A601-56FC6A62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325BF2"/>
                </a:solidFill>
              </a:defRPr>
            </a:pPr>
            <a:r>
              <a:rPr sz="1275" b="1">
                <a:solidFill>
                  <a:srgbClr val="325BF2"/>
                </a:solidFill>
              </a:rPr>
              <a:t>RC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36674C-CE3A-4687-A078-A1C44B33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2476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22E61"/>
                </a:solidFill>
              </a:defRPr>
            </a:pPr>
            <a:r>
              <a:rPr sz="2100" b="1">
                <a:solidFill>
                  <a:srgbClr val="222E61"/>
                </a:solidFill>
              </a:rPr>
              <a:t>护理人员只需要看清</a:t>
            </a:r>
          </a:p>
          <a:p xmlns:a="http://schemas.openxmlformats.org/drawingml/2006/main">
            <a:pPr>
              <a:buNone/>
              <a:defRPr sz="2100" b="1">
                <a:solidFill>
                  <a:srgbClr val="222E61"/>
                </a:solidFill>
              </a:defRPr>
            </a:pPr>
            <a:r>
              <a:rPr sz="2100" b="1">
                <a:solidFill>
                  <a:srgbClr val="222E61"/>
                </a:solidFill>
              </a:rPr>
              <a:t>哪张床正在出问题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419752-C6AC-452B-914E-353136B0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00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5B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05CA00-39CC-440E-BC3C-699E6D93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多床位统一监视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D2A168-2F60-42E4-9E00-51E46378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0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5B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4457C3-BC29-42FB-B304-467FF3F2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148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床位状态一眼判断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493081-28C8-49A9-83F7-ED26095C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00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5B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81BCE7-8A33-42AD-8139-3A866CC4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异常事件集中呈现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99BD00-5FA8-4E7E-86A8-CF278D8A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085850"/>
            <a:ext cx="7829550" cy="453390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89167F-DEC4-4219-B34A-FE876285B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238250"/>
            <a:ext cx="7524750" cy="422910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19050">
            <a:solidFill>
              <a:srgbClr val="1F2A4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11C3E3-5B4B-4ECE-9618-07A534A7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43050"/>
            <a:ext cx="691515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B365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BE7EC7-1693-462B-87B0-A5BD5CAC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432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B10D07-DE91-415E-BF84-9204BB7B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67665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视频画面放置区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B60C1C-5EFF-4123-9A93-A55B1434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114800"/>
            <a:ext cx="607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录制护士站首页：展示正常、关注、紧急床位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5BFBF2-B6BC-4883-92F8-E7EE0DCC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48250"/>
            <a:ext cx="6838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4E1148-4E0F-4AC5-A9E4-900A22FD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48250"/>
            <a:ext cx="1295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8DFCEF-33C9-42C0-B101-9F4620AD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676900"/>
            <a:ext cx="752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7982A6"/>
                </a:solidFill>
              </a:defRPr>
            </a:pPr>
            <a:r>
              <a:rPr sz="1050">
                <a:solidFill>
                  <a:srgbClr val="7982A6"/>
                </a:solidFill>
              </a:rPr>
              <a:t>把录好的视频拖入此框，保持 16:9 裁切</a:t>
            </a:r>
          </a:p>
        </p:txBody>
      </p:sp>
    </p:spTree>
    <p:extLst>
      <p:ext uri="{BB962C8B-B14F-4D97-AF65-F5344CB8AC3E}">
        <p14:creationId xmlns:p14="http://schemas.microsoft.com/office/powerpoint/2010/main" val="152842533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3A1563-4C9C-40B0-AA37-2A3CC61A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67DCEA-102B-416B-998D-CE8964EA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222E61"/>
                </a:solidFill>
              </a:defRPr>
            </a:pPr>
            <a:r>
              <a:rPr sz="3000" b="1">
                <a:solidFill>
                  <a:srgbClr val="222E61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F3899E-4A3F-4B7C-B772-581F0CE8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22E61"/>
                </a:solidFill>
              </a:defRPr>
            </a:pPr>
            <a:r>
              <a:rPr sz="1350" b="1">
                <a:solidFill>
                  <a:srgbClr val="222E61"/>
                </a:solidFill>
              </a:rPr>
              <a:t>Vitals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123348-CBF0-4F56-A144-AABB470E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7982A6"/>
                </a:solidFill>
              </a:defRPr>
            </a:pPr>
            <a:r>
              <a:rPr sz="1050" b="1">
                <a:solidFill>
                  <a:srgbClr val="7982A6"/>
                </a:solidFill>
              </a:rPr>
              <a:t>Radar Care · 生命体征监测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FD17CC-064F-425E-81A2-FEC91288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5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A2F4BA-C2A4-4EB8-9226-5ED79B38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3067050" cy="4229100"/>
          </a:xfrm>
          <a:prstGeom xmlns:a="http://schemas.openxmlformats.org/drawingml/2006/main" prst="roundRect">
            <a:avLst>
              <a:gd name="adj" fmla="val 74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01ACC7-7E3D-458E-B6F7-A2491F37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2C7DF">
              <a:alpha val="1215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4A559F-0FAF-4625-A99E-2DFD2236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42C7DF"/>
                </a:solidFill>
              </a:defRPr>
            </a:pPr>
            <a:r>
              <a:rPr sz="1275" b="1">
                <a:solidFill>
                  <a:srgbClr val="42C7DF"/>
                </a:solidFill>
              </a:rPr>
              <a:t>RC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1D871B-91CA-43EE-BC95-60EA3EDB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2476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22E61"/>
                </a:solidFill>
              </a:defRPr>
            </a:pPr>
            <a:r>
              <a:rPr sz="2100" b="1">
                <a:solidFill>
                  <a:srgbClr val="222E61"/>
                </a:solidFill>
              </a:rPr>
              <a:t>生命体征和呼噜信号</a:t>
            </a:r>
          </a:p>
          <a:p xmlns:a="http://schemas.openxmlformats.org/drawingml/2006/main">
            <a:pPr>
              <a:buNone/>
              <a:defRPr sz="2100" b="1">
                <a:solidFill>
                  <a:srgbClr val="222E61"/>
                </a:solidFill>
              </a:defRPr>
            </a:pPr>
            <a:r>
              <a:rPr sz="2100" b="1">
                <a:solidFill>
                  <a:srgbClr val="222E61"/>
                </a:solidFill>
              </a:rPr>
              <a:t>同步进入驾驶舱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E3C6DB-6401-49E4-A461-A12DB5EF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00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C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AD48F1-E765-4AFF-B894-14BBF755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雷达无接触生命体征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C872EE-2D9F-43C5-AF69-19AA6A58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0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C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655517-5032-49D9-93DE-F33E13AB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148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呼噜强度实时变化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F4C38A-12CE-4036-B2F1-0ECB6088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00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C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EAE882-112A-46D6-AADB-7E85E822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短暂抖动不误判离线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A62222-E4F3-4802-BC1C-091067BB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085850"/>
            <a:ext cx="7829550" cy="453390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030D0D-40C2-4FC2-8CB1-7581F60E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238250"/>
            <a:ext cx="7524750" cy="422910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19050">
            <a:solidFill>
              <a:srgbClr val="1F2A4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E34C41-863C-4E7B-90D6-173807B3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43050"/>
            <a:ext cx="691515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B365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C4C294-D031-4D75-ADB1-1535876C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432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724F23-A054-4507-B179-3C0CC1A6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67665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视频画面放置区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E9C1E4-F95C-47D6-B86C-AB79556E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114800"/>
            <a:ext cx="607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录制生命体征页：心率、呼吸率、呼噜趋势实时刷新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6700AF-B1EA-4502-9C70-3B6C758F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48250"/>
            <a:ext cx="6838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820B99-A52B-404C-8AB2-EC9C1B2B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48250"/>
            <a:ext cx="1295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7A9331-49FC-400C-BB11-C0325A3C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676900"/>
            <a:ext cx="752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7982A6"/>
                </a:solidFill>
              </a:defRPr>
            </a:pPr>
            <a:r>
              <a:rPr sz="1050">
                <a:solidFill>
                  <a:srgbClr val="7982A6"/>
                </a:solidFill>
              </a:rPr>
              <a:t>把录好的视频拖入此框，保持 16:9 裁切</a:t>
            </a:r>
          </a:p>
        </p:txBody>
      </p:sp>
    </p:spTree>
    <p:extLst>
      <p:ext uri="{BB962C8B-B14F-4D97-AF65-F5344CB8AC3E}">
        <p14:creationId xmlns:p14="http://schemas.microsoft.com/office/powerpoint/2010/main" val="148176490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6E21D9-DE1D-4872-B601-CD88EBB1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603BFA-9ABE-452B-9027-A2E1899E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222E61"/>
                </a:solidFill>
              </a:defRPr>
            </a:pPr>
            <a:r>
              <a:rPr sz="3000" b="1">
                <a:solidFill>
                  <a:srgbClr val="222E61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114132-BC91-46CB-B42B-0BEF1A0C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22E61"/>
                </a:solidFill>
              </a:defRPr>
            </a:pPr>
            <a:r>
              <a:rPr sz="1350" b="1">
                <a:solidFill>
                  <a:srgbClr val="222E61"/>
                </a:solidFill>
              </a:rPr>
              <a:t>Environment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1E52D0-E37E-4C53-A0C9-12618615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7982A6"/>
                </a:solidFill>
              </a:defRPr>
            </a:pPr>
            <a:r>
              <a:rPr sz="1050" b="1">
                <a:solidFill>
                  <a:srgbClr val="7982A6"/>
                </a:solidFill>
              </a:rPr>
              <a:t>Radar Care · 生命体征监测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980A9B-C2AE-4580-888F-DB99FE39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5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26E651-029C-4713-A464-A5540EEE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3067050" cy="4229100"/>
          </a:xfrm>
          <a:prstGeom xmlns:a="http://schemas.openxmlformats.org/drawingml/2006/main" prst="roundRect">
            <a:avLst>
              <a:gd name="adj" fmla="val 74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59C6F0-D4DB-4147-9055-FFD3630E0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E9B2D">
              <a:alpha val="1215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9FBC22-1A42-4938-9708-A032D52E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EE9B2D"/>
                </a:solidFill>
              </a:defRPr>
            </a:pPr>
            <a:r>
              <a:rPr sz="1275" b="1">
                <a:solidFill>
                  <a:srgbClr val="EE9B2D"/>
                </a:solidFill>
              </a:rPr>
              <a:t>RC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F30173-23FB-4F65-9871-DD6585EE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2476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22E61"/>
                </a:solidFill>
              </a:defRPr>
            </a:pPr>
            <a:r>
              <a:rPr sz="2100" b="1">
                <a:solidFill>
                  <a:srgbClr val="222E61"/>
                </a:solidFill>
              </a:rPr>
              <a:t>环境数据帮助判断</a:t>
            </a:r>
          </a:p>
          <a:p xmlns:a="http://schemas.openxmlformats.org/drawingml/2006/main">
            <a:pPr>
              <a:buNone/>
              <a:defRPr sz="2100" b="1">
                <a:solidFill>
                  <a:srgbClr val="222E61"/>
                </a:solidFill>
              </a:defRPr>
            </a:pPr>
            <a:r>
              <a:rPr sz="2100" b="1">
                <a:solidFill>
                  <a:srgbClr val="222E61"/>
                </a:solidFill>
              </a:rPr>
              <a:t>睡眠舒适度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02F165-0FDF-46E1-BFC6-70D45790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00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9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7BBD38-5A68-49F2-927F-67EF9B33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温湿度持续上报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35CF98-82F8-4E1A-B5B6-217D20D75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0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9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3A79A5-7FE8-480C-A6D9-15409098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148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环境声音趋势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C0C35F-D1D4-40AB-8981-1BE99D9E3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00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9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1A4CCC-E937-47EB-BC45-E3913EF6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舒适度评分提示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AFED5C-80AA-415F-98BE-CC6FD68C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085850"/>
            <a:ext cx="7829550" cy="453390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428884-B2BF-4B19-9307-8E945C41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238250"/>
            <a:ext cx="7524750" cy="422910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19050">
            <a:solidFill>
              <a:srgbClr val="1F2A4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DB1BE8-A12A-4A91-B0C7-3D290562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43050"/>
            <a:ext cx="691515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B365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913F1D-2833-496D-AD02-720C9F39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432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74F3C7-D883-42F6-A1E2-19B2A16F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67665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视频画面放置区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5F35C8-893D-4753-8A43-7D91C655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114800"/>
            <a:ext cx="607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录制睡眠环境分析：温度、湿度、声音数据同步变化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89529C-75B5-4363-B025-2EEB0D58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48250"/>
            <a:ext cx="6838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F9B85A-B1C9-469E-8084-44674D9CB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48250"/>
            <a:ext cx="1295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E8B1ED-6D61-47F3-A4DC-5C21C49C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676900"/>
            <a:ext cx="752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7982A6"/>
                </a:solidFill>
              </a:defRPr>
            </a:pPr>
            <a:r>
              <a:rPr sz="1050">
                <a:solidFill>
                  <a:srgbClr val="7982A6"/>
                </a:solidFill>
              </a:rPr>
              <a:t>把录好的视频拖入此框，保持 16:9 裁切</a:t>
            </a:r>
          </a:p>
        </p:txBody>
      </p:sp>
    </p:spTree>
    <p:extLst>
      <p:ext uri="{BB962C8B-B14F-4D97-AF65-F5344CB8AC3E}">
        <p14:creationId xmlns:p14="http://schemas.microsoft.com/office/powerpoint/2010/main" val="110108198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7F38F8-AC8B-4EE7-962F-52F88569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245210-3DAA-47BC-BBE7-8BBF43D32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222E61"/>
                </a:solidFill>
              </a:defRPr>
            </a:pPr>
            <a:r>
              <a:rPr sz="3000" b="1">
                <a:solidFill>
                  <a:srgbClr val="222E61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B1909D-BBE3-4E52-89D8-E6E4CA4F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22E61"/>
                </a:solidFill>
              </a:defRPr>
            </a:pPr>
            <a:r>
              <a:rPr sz="1350" b="1">
                <a:solidFill>
                  <a:srgbClr val="222E61"/>
                </a:solidFill>
              </a:rPr>
              <a:t>Guard Mode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F863AC-9839-413E-91E4-40AE1C7E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7982A6"/>
                </a:solidFill>
              </a:defRPr>
            </a:pPr>
            <a:r>
              <a:rPr sz="1050" b="1">
                <a:solidFill>
                  <a:srgbClr val="7982A6"/>
                </a:solidFill>
              </a:rPr>
              <a:t>Radar Care · 生命体征监测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941517-3F74-4E79-9539-82B62F5B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5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A46F97-D5D1-49B8-933E-94BCE614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3067050" cy="4229100"/>
          </a:xfrm>
          <a:prstGeom xmlns:a="http://schemas.openxmlformats.org/drawingml/2006/main" prst="roundRect">
            <a:avLst>
              <a:gd name="adj" fmla="val 74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4FD39C-9B02-4DE6-ABE1-956F31882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7B36A">
              <a:alpha val="1215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7E5912-EBF2-4629-A21B-AFFC0F0B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7B36A"/>
                </a:solidFill>
              </a:defRPr>
            </a:pPr>
            <a:r>
              <a:rPr sz="1275" b="1">
                <a:solidFill>
                  <a:srgbClr val="27B36A"/>
                </a:solidFill>
              </a:rPr>
              <a:t>RC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CE2C54-EA7D-4301-8236-3A86C380D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2476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22E61"/>
                </a:solidFill>
              </a:defRPr>
            </a:pPr>
            <a:r>
              <a:rPr sz="2100" b="1">
                <a:solidFill>
                  <a:srgbClr val="222E61"/>
                </a:solidFill>
              </a:rPr>
              <a:t>小智终端默认守护</a:t>
            </a:r>
          </a:p>
          <a:p xmlns:a="http://schemas.openxmlformats.org/drawingml/2006/main">
            <a:pPr>
              <a:buNone/>
              <a:defRPr sz="2100" b="1">
                <a:solidFill>
                  <a:srgbClr val="222E61"/>
                </a:solidFill>
              </a:defRPr>
            </a:pPr>
            <a:r>
              <a:rPr sz="2100" b="1">
                <a:solidFill>
                  <a:srgbClr val="222E61"/>
                </a:solidFill>
              </a:rPr>
              <a:t>呼噜和求助不中断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A69591-BA5A-4991-9BDF-97E55304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00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B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01466A-E651-40CB-982C-BB524C2F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守护模式在线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4EFFE4-E281-47F4-85AD-A10973A6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0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B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3B10BC-56C9-4E74-84D7-95EF70F6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148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本地呼噜检测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6D9295-8006-4531-B990-71B21194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00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B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4CD527-46C1-44A9-A243-77ACE13A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求助语音触发 SOS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0D14F3-ADC4-4175-9AA5-A67C0D9E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085850"/>
            <a:ext cx="7829550" cy="453390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ACB4F9-23D9-4591-BA09-E86F7130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238250"/>
            <a:ext cx="7524750" cy="422910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19050">
            <a:solidFill>
              <a:srgbClr val="1F2A4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7ABBC1-5744-4224-B557-43807498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43050"/>
            <a:ext cx="691515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B365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CC2553-F003-4063-93D1-BFA8051C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432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8229F4-CFEC-4C37-B084-016A0C14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67665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视频画面放置区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5A7953-B529-435B-B5B0-FDA1836A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114800"/>
            <a:ext cx="607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录制开发板屏幕：守护模式在线、呼噜检测、时间显示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092A96-A889-4C98-B07D-7DE986E6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48250"/>
            <a:ext cx="6838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E6C32F-8118-4C2F-95DD-BAAE5BBD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48250"/>
            <a:ext cx="1295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67B88A-D20A-407F-8193-E5A78FC6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676900"/>
            <a:ext cx="752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7982A6"/>
                </a:solidFill>
              </a:defRPr>
            </a:pPr>
            <a:r>
              <a:rPr sz="1050">
                <a:solidFill>
                  <a:srgbClr val="7982A6"/>
                </a:solidFill>
              </a:rPr>
              <a:t>把录好的视频拖入此框，保持 16:9 裁切</a:t>
            </a:r>
          </a:p>
        </p:txBody>
      </p:sp>
    </p:spTree>
    <p:extLst>
      <p:ext uri="{BB962C8B-B14F-4D97-AF65-F5344CB8AC3E}">
        <p14:creationId xmlns:p14="http://schemas.microsoft.com/office/powerpoint/2010/main" val="124093430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77EA7C-A313-4FB5-9CAC-82E3C8F7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93CE98-21E1-4A31-9DFE-FE294520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222E61"/>
                </a:solidFill>
              </a:defRPr>
            </a:pPr>
            <a:r>
              <a:rPr sz="3000" b="1">
                <a:solidFill>
                  <a:srgbClr val="222E61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54F6EF-CD43-4604-A2FD-577D0A04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22E61"/>
                </a:solidFill>
              </a:defRPr>
            </a:pPr>
            <a:r>
              <a:rPr sz="1350" b="1">
                <a:solidFill>
                  <a:srgbClr val="222E61"/>
                </a:solidFill>
              </a:rPr>
              <a:t>Emergency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9857FE-97E8-46B7-B630-96084CB5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7982A6"/>
                </a:solidFill>
              </a:defRPr>
            </a:pPr>
            <a:r>
              <a:rPr sz="1050" b="1">
                <a:solidFill>
                  <a:srgbClr val="7982A6"/>
                </a:solidFill>
              </a:rPr>
              <a:t>Radar Care · 生命体征监测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3D3DC6-A8F6-4143-9A85-D57A6974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5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AA6ACA-E032-4960-8788-71E464CF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3067050" cy="4229100"/>
          </a:xfrm>
          <a:prstGeom xmlns:a="http://schemas.openxmlformats.org/drawingml/2006/main" prst="roundRect">
            <a:avLst>
              <a:gd name="adj" fmla="val 74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5E726C-256E-41F7-AA66-DDD96531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23744">
              <a:alpha val="1215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4DFA16-8B86-42C9-B159-24E08A56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E23744"/>
                </a:solidFill>
              </a:defRPr>
            </a:pPr>
            <a:r>
              <a:rPr sz="1275" b="1">
                <a:solidFill>
                  <a:srgbClr val="E23744"/>
                </a:solidFill>
              </a:rPr>
              <a:t>RC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C10456-F86E-4E1B-BB64-82F06F24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2476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22E61"/>
                </a:solidFill>
              </a:defRPr>
            </a:pPr>
            <a:r>
              <a:rPr sz="2100" b="1">
                <a:solidFill>
                  <a:srgbClr val="222E61"/>
                </a:solidFill>
              </a:rPr>
              <a:t>紧急事件从开发板</a:t>
            </a:r>
          </a:p>
          <a:p xmlns:a="http://schemas.openxmlformats.org/drawingml/2006/main">
            <a:pPr>
              <a:buNone/>
              <a:defRPr sz="2100" b="1">
                <a:solidFill>
                  <a:srgbClr val="222E61"/>
                </a:solidFill>
              </a:defRPr>
            </a:pPr>
            <a:r>
              <a:rPr sz="2100" b="1">
                <a:solidFill>
                  <a:srgbClr val="222E61"/>
                </a:solidFill>
              </a:rPr>
              <a:t>同步到前端处理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5CAF47-3246-4617-9554-83C0A8BE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00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37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BC115A-CCFF-406C-9232-3AB13C18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语音求助或跌落触发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F41A99-BA45-4C13-A3D0-1DB5965F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0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37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18529F-DBBE-4EE7-A9FC-A7AF074B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148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大屏标红并语音播报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0674A4-5128-4BE5-8284-FB42C23B3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00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37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BF84FC-E8E3-4D26-93C5-8749B1BE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处理后全端解除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8C3C04-83F1-49DF-9EF1-F7E886F0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085850"/>
            <a:ext cx="7829550" cy="453390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969027-3EE2-4965-A4B5-9A53D63A7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238250"/>
            <a:ext cx="7524750" cy="422910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19050">
            <a:solidFill>
              <a:srgbClr val="1F2A4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E5658F-B504-407D-AD0D-18D92FB1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43050"/>
            <a:ext cx="691515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B365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B5CBC1-6D2E-41FB-ACE4-59E3BF8E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432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F2BF73-D4F8-4D88-A2FE-528A6E7E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67665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视频画面放置区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CF93F4-403D-4B4C-B8C7-239E7D21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114800"/>
            <a:ext cx="607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录制 SOS 闭环：触发告警、前端弹窗、确认处理、状态恢复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232D17-9670-49DB-81AB-2B2C307E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48250"/>
            <a:ext cx="6838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89C5FA-AE07-4A33-9FEB-7F9B3785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48250"/>
            <a:ext cx="1295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DFF7FD-20B4-453A-A5B7-50561B05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676900"/>
            <a:ext cx="752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7982A6"/>
                </a:solidFill>
              </a:defRPr>
            </a:pPr>
            <a:r>
              <a:rPr sz="1050">
                <a:solidFill>
                  <a:srgbClr val="7982A6"/>
                </a:solidFill>
              </a:rPr>
              <a:t>把录好的视频拖入此框，保持 16:9 裁切</a:t>
            </a:r>
          </a:p>
        </p:txBody>
      </p:sp>
    </p:spTree>
    <p:extLst>
      <p:ext uri="{BB962C8B-B14F-4D97-AF65-F5344CB8AC3E}">
        <p14:creationId xmlns:p14="http://schemas.microsoft.com/office/powerpoint/2010/main" val="8036875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E36887-AB07-46D1-99E5-151F9D0E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9C9B09-630E-4A7F-8A0B-5550263D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222E61"/>
                </a:solidFill>
              </a:defRPr>
            </a:pPr>
            <a:r>
              <a:rPr sz="3000" b="1">
                <a:solidFill>
                  <a:srgbClr val="222E61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96D0DE-9AB8-4DF9-ADD1-6079E0D8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22E61"/>
                </a:solidFill>
              </a:defRPr>
            </a:pPr>
            <a:r>
              <a:rPr sz="1350" b="1">
                <a:solidFill>
                  <a:srgbClr val="222E61"/>
                </a:solidFill>
              </a:rPr>
              <a:t>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D597A3-2B69-4FA9-818E-2276CE53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7982A6"/>
                </a:solidFill>
              </a:defRPr>
            </a:pPr>
            <a:r>
              <a:rPr sz="1050" b="1">
                <a:solidFill>
                  <a:srgbClr val="7982A6"/>
                </a:solidFill>
              </a:rPr>
              <a:t>Radar Care · 生命体征监测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FAEAEB-8998-451F-9D4C-A5B3E939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5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33777F-C62F-409C-B5CB-9FF1AA7B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3067050" cy="4229100"/>
          </a:xfrm>
          <a:prstGeom xmlns:a="http://schemas.openxmlformats.org/drawingml/2006/main" prst="roundRect">
            <a:avLst>
              <a:gd name="adj" fmla="val 74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0F7EA3-6D2A-4F34-88ED-791C203F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325BF2">
              <a:alpha val="1215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E6DF62-6D3E-42F8-8FD9-CC4A4619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325BF2"/>
                </a:solidFill>
              </a:defRPr>
            </a:pPr>
            <a:r>
              <a:rPr sz="1275" b="1">
                <a:solidFill>
                  <a:srgbClr val="325BF2"/>
                </a:solidFill>
              </a:rPr>
              <a:t>RC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BD2581-A056-4D88-8857-A10D87C3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2476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22E61"/>
                </a:solidFill>
              </a:defRPr>
            </a:pPr>
            <a:r>
              <a:rPr sz="2100" b="1">
                <a:solidFill>
                  <a:srgbClr val="222E61"/>
                </a:solidFill>
              </a:rPr>
              <a:t>真实后端把雷达、小智</a:t>
            </a:r>
          </a:p>
          <a:p xmlns:a="http://schemas.openxmlformats.org/drawingml/2006/main">
            <a:pPr>
              <a:buNone/>
              <a:defRPr sz="2100" b="1">
                <a:solidFill>
                  <a:srgbClr val="222E61"/>
                </a:solidFill>
              </a:defRPr>
            </a:pPr>
            <a:r>
              <a:rPr sz="2100" b="1">
                <a:solidFill>
                  <a:srgbClr val="222E61"/>
                </a:solidFill>
              </a:rPr>
              <a:t>和移动端连成闭环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E31AA3-FBE7-4BFD-982E-398D1070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00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5B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B5DFC6-36CA-48CA-A041-12A21C43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UDP 雷达数据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AD1F0C-8798-43E3-BC92-56AAA42E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0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5B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DFA6F9-3615-433A-B5DC-ED660C4B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148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HTTP 设备心跳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9053D9-72A6-4578-8820-3130B326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00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5B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4EC249-70EC-4A7E-830A-6BC96A8B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Web 与 Android 同步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626644-362C-4C7C-8647-400A9BF5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085850"/>
            <a:ext cx="7829550" cy="453390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17D626-3582-4CDD-B6FA-CFB3F439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238250"/>
            <a:ext cx="7524750" cy="422910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19050">
            <a:solidFill>
              <a:srgbClr val="1F2A4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552281-BDC9-406E-9D05-666A1E09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43050"/>
            <a:ext cx="691515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B365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250D94-3B3A-4C68-B913-4E264FD2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432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3522AC-D523-43C0-9B64-CBC0BC08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67665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视频画面放置区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7D692A-D005-4BC0-AA92-B12E1C8A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114800"/>
            <a:ext cx="607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录制接口联动：后端运行、设备在线、移动端/网页同步刷新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57374C-B2B6-4C69-8058-D9D7C811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48250"/>
            <a:ext cx="6838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C77779-2F13-444B-8E92-FD1006BC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48250"/>
            <a:ext cx="1295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560158-77F7-4433-B05C-1A9AD72A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676900"/>
            <a:ext cx="752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7982A6"/>
                </a:solidFill>
              </a:defRPr>
            </a:pPr>
            <a:r>
              <a:rPr sz="1050">
                <a:solidFill>
                  <a:srgbClr val="7982A6"/>
                </a:solidFill>
              </a:rPr>
              <a:t>把录好的视频拖入此框，保持 16:9 裁切</a:t>
            </a:r>
          </a:p>
        </p:txBody>
      </p:sp>
    </p:spTree>
    <p:extLst>
      <p:ext uri="{BB962C8B-B14F-4D97-AF65-F5344CB8AC3E}">
        <p14:creationId xmlns:p14="http://schemas.microsoft.com/office/powerpoint/2010/main" val="50887038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E4514E-5A08-47BE-B37B-52B79DA0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05161A-B603-4ACA-876A-A0D19453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222E61"/>
                </a:solidFill>
              </a:defRPr>
            </a:pPr>
            <a:r>
              <a:rPr sz="3000" b="1">
                <a:solidFill>
                  <a:srgbClr val="222E61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60CE58-E5CD-4E5F-86E4-2E3E5E1F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22E61"/>
                </a:solidFill>
              </a:defRPr>
            </a:pPr>
            <a:r>
              <a:rPr sz="1350" b="1">
                <a:solidFill>
                  <a:srgbClr val="222E61"/>
                </a:solidFill>
              </a:rPr>
              <a:t>Close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31C93F-5B5E-434A-9720-F9FA0A5E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7982A6"/>
                </a:solidFill>
              </a:defRPr>
            </a:pPr>
            <a:r>
              <a:rPr sz="1050" b="1">
                <a:solidFill>
                  <a:srgbClr val="7982A6"/>
                </a:solidFill>
              </a:rPr>
              <a:t>Radar Care · 生命体征监测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51BEAF-70EA-4437-9508-4D3749B19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5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CCE4C4-7847-4EB6-B30C-31D37E3D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3067050" cy="4229100"/>
          </a:xfrm>
          <a:prstGeom xmlns:a="http://schemas.openxmlformats.org/drawingml/2006/main" prst="roundRect">
            <a:avLst>
              <a:gd name="adj" fmla="val 74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7F12F9-A02E-4750-8986-D26E7D0C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7B36A">
              <a:alpha val="1215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BB50F3-2227-4319-B414-7973244E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7B36A"/>
                </a:solidFill>
              </a:defRPr>
            </a:pPr>
            <a:r>
              <a:rPr sz="1275" b="1">
                <a:solidFill>
                  <a:srgbClr val="27B36A"/>
                </a:solidFill>
              </a:rPr>
              <a:t>RC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89A694-00DD-462F-B560-50EA6D30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2476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22E61"/>
                </a:solidFill>
              </a:defRPr>
            </a:pPr>
            <a:r>
              <a:rPr sz="2100" b="1">
                <a:solidFill>
                  <a:srgbClr val="222E61"/>
                </a:solidFill>
              </a:rPr>
              <a:t>监测不打扰睡眠</a:t>
            </a:r>
          </a:p>
          <a:p xmlns:a="http://schemas.openxmlformats.org/drawingml/2006/main">
            <a:pPr>
              <a:buNone/>
              <a:defRPr sz="2100" b="1">
                <a:solidFill>
                  <a:srgbClr val="222E61"/>
                </a:solidFill>
              </a:defRPr>
            </a:pPr>
            <a:r>
              <a:rPr sz="2100" b="1">
                <a:solidFill>
                  <a:srgbClr val="222E61"/>
                </a:solidFill>
              </a:rPr>
              <a:t>求助能及时听见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A7A0DD-C8FB-4CFA-8E99-1E71CF2D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00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B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5A5DE9-DAC8-43BC-B074-F2A0EA131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适合医院与养老院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F060BB-0F3D-4B33-B9FA-285CF1E9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0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B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810821-02CD-43A2-BA27-1217F2CF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148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支持多套设备扩展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64DCD5-42ED-4B11-8335-BA620E0C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00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B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916F9F-BEAD-4A1F-BCEC-72769CD8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可演示、可部署、可迭代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71CAD7-1AAF-427E-A1B7-B8E07276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085850"/>
            <a:ext cx="7829550" cy="453390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5F02CB-A91E-42DD-B61B-B006F3F8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238250"/>
            <a:ext cx="7524750" cy="422910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19050">
            <a:solidFill>
              <a:srgbClr val="1F2A4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765934-4992-44C0-87B2-20D84613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43050"/>
            <a:ext cx="691515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B365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31348A-856C-48CF-8AD4-4BB8A55E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432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F5CA16-EC6B-4112-9B3D-FF012F58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67665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视频画面放置区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E75E6E-54DB-4E8E-9567-4A80EE6E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114800"/>
            <a:ext cx="607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结尾镜头：护士站大屏、Android、开发板同框展示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B70A9E-2D32-4320-A377-4562A085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48250"/>
            <a:ext cx="6838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79D371-8CAB-4E46-9F4E-AE696749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48250"/>
            <a:ext cx="1295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A05421-9DDF-411C-9D41-A833FE82E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676900"/>
            <a:ext cx="752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7982A6"/>
                </a:solidFill>
              </a:defRPr>
            </a:pPr>
            <a:r>
              <a:rPr sz="1050">
                <a:solidFill>
                  <a:srgbClr val="7982A6"/>
                </a:solidFill>
              </a:rPr>
              <a:t>把录好的视频拖入此框，保持 16:9 裁切</a:t>
            </a:r>
          </a:p>
        </p:txBody>
      </p:sp>
    </p:spTree>
    <p:extLst>
      <p:ext uri="{BB962C8B-B14F-4D97-AF65-F5344CB8AC3E}">
        <p14:creationId xmlns:p14="http://schemas.microsoft.com/office/powerpoint/2010/main" val="20288802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2026-07-04T02:29:44.4480000Z</dcterms:created>
  <dcterms:modified xsi:type="dcterms:W3CDTF">2026-07-04T02:29:44.4480000Z</dcterms:modified>
</coreProperties>
</file>