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e90dc6d8354b94" /><Relationship Type="http://schemas.openxmlformats.org/officeDocument/2006/relationships/extended-properties" Target="/docProps/app.xml" Id="Reee8a7691b3944f6" /><Relationship Type="http://schemas.openxmlformats.org/officeDocument/2006/relationships/officeDocument" Target="/ppt/presentation.xml" Id="R9f01b737f6284d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7d9d0e84264fed"/>
  </p:sldMasterIdLst>
  <p:notesMasterIdLst>
    <p:notesMasterId xmlns:r="http://schemas.openxmlformats.org/officeDocument/2006/relationships" r:id="Ref1e5168111e4dc7"/>
  </p:notesMasterIdLst>
  <p:sldIdLst>
    <p:sldId xmlns:r="http://schemas.openxmlformats.org/officeDocument/2006/relationships" id="256" r:id="Rdb036021108f45df"/>
    <p:sldId xmlns:r="http://schemas.openxmlformats.org/officeDocument/2006/relationships" id="257" r:id="Rc1c692f617654bcf"/>
    <p:sldId xmlns:r="http://schemas.openxmlformats.org/officeDocument/2006/relationships" id="258" r:id="R80e8c1f7b7f64f7d"/>
    <p:sldId xmlns:r="http://schemas.openxmlformats.org/officeDocument/2006/relationships" id="259" r:id="R8332e9723416463d"/>
    <p:sldId xmlns:r="http://schemas.openxmlformats.org/officeDocument/2006/relationships" id="260" r:id="Rc5c3550493894d3b"/>
    <p:sldId xmlns:r="http://schemas.openxmlformats.org/officeDocument/2006/relationships" id="261" r:id="R4bab939ee20c457e"/>
    <p:sldId xmlns:r="http://schemas.openxmlformats.org/officeDocument/2006/relationships" id="262" r:id="R302b21fe2a704bbe"/>
    <p:sldId xmlns:r="http://schemas.openxmlformats.org/officeDocument/2006/relationships" id="263" r:id="R9238f11076f74ee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ea74c9d1d549e6" /><Relationship Type="http://schemas.openxmlformats.org/officeDocument/2006/relationships/slideMaster" Target="/ppt/slideMasters/slideMaster1.xml" Id="R327d9d0e84264fed" /><Relationship Type="http://schemas.openxmlformats.org/officeDocument/2006/relationships/notesMaster" Target="/ppt/notesMasters/notesMaster1.xml" Id="Ref1e5168111e4dc7" /><Relationship Type="http://schemas.openxmlformats.org/officeDocument/2006/relationships/presProps" Target="/ppt/presProps.xml" Id="R1628cf29fda54a8d" /><Relationship Type="http://schemas.openxmlformats.org/officeDocument/2006/relationships/tableStyles" Target="/ppt/tableStyles.xml" Id="R669accd8ce494e04" /><Relationship Type="http://schemas.openxmlformats.org/officeDocument/2006/relationships/slide" Target="/ppt/slides/slide1.xml" Id="Rdb036021108f45df" /><Relationship Type="http://schemas.openxmlformats.org/officeDocument/2006/relationships/slide" Target="/ppt/slides/slide2.xml" Id="Rc1c692f617654bcf" /><Relationship Type="http://schemas.openxmlformats.org/officeDocument/2006/relationships/slide" Target="/ppt/slides/slide3.xml" Id="R80e8c1f7b7f64f7d" /><Relationship Type="http://schemas.openxmlformats.org/officeDocument/2006/relationships/slide" Target="/ppt/slides/slide4.xml" Id="R8332e9723416463d" /><Relationship Type="http://schemas.openxmlformats.org/officeDocument/2006/relationships/slide" Target="/ppt/slides/slide5.xml" Id="Rc5c3550493894d3b" /><Relationship Type="http://schemas.openxmlformats.org/officeDocument/2006/relationships/slide" Target="/ppt/slides/slide6.xml" Id="R4bab939ee20c457e" /><Relationship Type="http://schemas.openxmlformats.org/officeDocument/2006/relationships/slide" Target="/ppt/slides/slide7.xml" Id="R302b21fe2a704bbe" /><Relationship Type="http://schemas.openxmlformats.org/officeDocument/2006/relationships/slide" Target="/ppt/slides/slide8.xml" Id="R9238f11076f74e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fcfa4854d042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a8f8c259074704" /><Relationship Type="http://schemas.openxmlformats.org/officeDocument/2006/relationships/notesMaster" Target="/ppt/notesMasters/notesMaster1.xml" Id="Rb37ae5d9f5ef43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f12a050fdd46ed" /><Relationship Type="http://schemas.openxmlformats.org/officeDocument/2006/relationships/notesMaster" Target="/ppt/notesMasters/notesMaster1.xml" Id="R99d8cdcabe0840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d465ddef1b2473a" /><Relationship Type="http://schemas.openxmlformats.org/officeDocument/2006/relationships/notesMaster" Target="/ppt/notesMasters/notesMaster1.xml" Id="R4203ce73472d49e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d62ec87737499c" /><Relationship Type="http://schemas.openxmlformats.org/officeDocument/2006/relationships/notesMaster" Target="/ppt/notesMasters/notesMaster1.xml" Id="Rab2ac3ecc92243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6bdbb09982049ed" /><Relationship Type="http://schemas.openxmlformats.org/officeDocument/2006/relationships/notesMaster" Target="/ppt/notesMasters/notesMaster1.xml" Id="R606203d5f6c74c3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3ddcbc1cdee456a" /><Relationship Type="http://schemas.openxmlformats.org/officeDocument/2006/relationships/notesMaster" Target="/ppt/notesMasters/notesMaster1.xml" Id="Rd28595766c8240b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fb0583304cb49e9" /><Relationship Type="http://schemas.openxmlformats.org/officeDocument/2006/relationships/notesMaster" Target="/ppt/notesMasters/notesMaster1.xml" Id="R704c7960499e411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91f253c1a114072" /><Relationship Type="http://schemas.openxmlformats.org/officeDocument/2006/relationships/notesMaster" Target="/ppt/notesMasters/notesMaster1.xml" Id="R3549e98f1a4a46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bdba2d42954b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76522cb0ac4997" /><Relationship Type="http://schemas.openxmlformats.org/officeDocument/2006/relationships/slideLayout" Target="/ppt/slideLayouts/slideLayout1.xml" Id="R9d5c641a4d544f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5c641a4d544f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9d10a00dca4678" /><Relationship Type="http://schemas.openxmlformats.org/officeDocument/2006/relationships/notesSlide" Target="/ppt/notesSlides/notesSlide1.xml" Id="Rb9587ee0e8834a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fb479f070d416f" /><Relationship Type="http://schemas.openxmlformats.org/officeDocument/2006/relationships/notesSlide" Target="/ppt/notesSlides/notesSlide2.xml" Id="Ra783e17202a14a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4cd8e8f20e4800" /><Relationship Type="http://schemas.openxmlformats.org/officeDocument/2006/relationships/notesSlide" Target="/ppt/notesSlides/notesSlide3.xml" Id="Re06566cdda8443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6825b6adaf4859" /><Relationship Type="http://schemas.openxmlformats.org/officeDocument/2006/relationships/notesSlide" Target="/ppt/notesSlides/notesSlide4.xml" Id="Ra9649c9dddb549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6336edc1824580" /><Relationship Type="http://schemas.openxmlformats.org/officeDocument/2006/relationships/notesSlide" Target="/ppt/notesSlides/notesSlide5.xml" Id="R3d0a375f5656448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c274aa221d4b70" /><Relationship Type="http://schemas.openxmlformats.org/officeDocument/2006/relationships/notesSlide" Target="/ppt/notesSlides/notesSlide6.xml" Id="R195c2d8e44da41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bbe9b6f89d48a8" /><Relationship Type="http://schemas.openxmlformats.org/officeDocument/2006/relationships/notesSlide" Target="/ppt/notesSlides/notesSlide7.xml" Id="Rac13e5f6a17340c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a420c682f24198" /><Relationship Type="http://schemas.openxmlformats.org/officeDocument/2006/relationships/notesSlide" Target="/ppt/notesSlides/notesSlide8.xml" Id="R2104bc900923439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38C9CB-6538-4FD2-9B13-2CC869D6E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D24384-B759-46A0-94C0-4A5819EC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22E61"/>
                </a:solidFill>
              </a:defRPr>
            </a:pPr>
            <a:r>
              <a:rPr sz="3000" b="1">
                <a:solidFill>
                  <a:srgbClr val="222E61"/>
                </a:solidFill>
              </a:rPr>
              <a:t>00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DBDE3C-A23B-40E9-BC57-21727E33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2E61"/>
                </a:solidFill>
              </a:defRPr>
            </a:pPr>
            <a:r>
              <a:rPr sz="1350" b="1">
                <a:solidFill>
                  <a:srgbClr val="222E61"/>
                </a:solidFill>
              </a:rPr>
              <a:t>Video Package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3F834F-DA3F-4EB4-8A27-A51D5C01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982A6"/>
                </a:solidFill>
              </a:defRPr>
            </a:pPr>
            <a:r>
              <a:rPr sz="1050" b="1">
                <a:solidFill>
                  <a:srgbClr val="7982A6"/>
                </a:solidFill>
              </a:rPr>
              <a:t>Radar Care · 生命体征监测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FB8E85-42E2-45C1-9BCF-59AB30A1B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5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6FE480-4A98-4933-9204-1F29592C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2762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22E61"/>
                </a:solidFill>
              </a:defRPr>
            </a:pPr>
            <a:r>
              <a:rPr sz="3450" b="1">
                <a:solidFill>
                  <a:srgbClr val="222E61"/>
                </a:solidFill>
              </a:rPr>
              <a:t>非接触式</a:t>
            </a:r>
          </a:p>
          <a:p xmlns:a="http://schemas.openxmlformats.org/drawingml/2006/main">
            <a:pPr>
              <a:defRPr sz="3450" b="1">
                <a:solidFill>
                  <a:srgbClr val="222E61"/>
                </a:solidFill>
              </a:defRPr>
            </a:pPr>
            <a:r>
              <a:rPr sz="3450" b="1">
                <a:solidFill>
                  <a:srgbClr val="222E61"/>
                </a:solidFill>
              </a:rPr>
              <a:t>睡眠看护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F61265-C397-4E42-BA22-FDB7C8E1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2781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C768F"/>
                </a:solidFill>
              </a:defRPr>
            </a:pPr>
            <a:r>
              <a:rPr sz="1650">
                <a:solidFill>
                  <a:srgbClr val="6C768F"/>
                </a:solidFill>
              </a:rPr>
              <a:t>毫米波雷达 × 小智守护</a:t>
            </a:r>
          </a:p>
          <a:p xmlns:a="http://schemas.openxmlformats.org/drawingml/2006/main">
            <a:pPr>
              <a:defRPr sz="1650">
                <a:solidFill>
                  <a:srgbClr val="6C768F"/>
                </a:solidFill>
              </a:defRPr>
            </a:pPr>
            <a:r>
              <a:rPr sz="1650">
                <a:solidFill>
                  <a:srgbClr val="6C768F"/>
                </a:solidFill>
              </a:rPr>
              <a:t>Web/Android 告警闭环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6757E9-C5C7-4939-ADB6-80DF21EE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1314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5BF2">
              <a:alpha val="9020"/>
            </a:srgbClr>
          </a:solidFill>
          <a:ln xmlns:a="http://schemas.openxmlformats.org/drawingml/2006/main" w="9525">
            <a:solidFill>
              <a:srgbClr val="325BF2">
                <a:alpha val="26667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F3AA2C-AFB8-4DD4-B69C-028413F3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62425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25BF2"/>
                </a:solidFill>
              </a:defRPr>
            </a:pPr>
            <a:r>
              <a:rPr sz="975" b="1">
                <a:solidFill>
                  <a:srgbClr val="325BF2"/>
                </a:solidFill>
              </a:rPr>
              <a:t>无接触监测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7AEAA2-FEC9-4465-B99E-4B7FD94F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095750"/>
            <a:ext cx="1314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B36A">
              <a:alpha val="9020"/>
            </a:srgbClr>
          </a:solidFill>
          <a:ln xmlns:a="http://schemas.openxmlformats.org/drawingml/2006/main" w="9525">
            <a:solidFill>
              <a:srgbClr val="27B36A">
                <a:alpha val="26667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43F87F-B5DE-45BA-BA6C-4C7C2D00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62425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7B36A"/>
                </a:solidFill>
              </a:defRPr>
            </a:pPr>
            <a:r>
              <a:rPr sz="975" b="1">
                <a:solidFill>
                  <a:srgbClr val="27B36A"/>
                </a:solidFill>
              </a:rPr>
              <a:t>多床位看护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3578F7-7D8C-441F-873A-03EDF5B8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1314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3744">
              <a:alpha val="9020"/>
            </a:srgbClr>
          </a:solidFill>
          <a:ln xmlns:a="http://schemas.openxmlformats.org/drawingml/2006/main" w="9525">
            <a:solidFill>
              <a:srgbClr val="E23744">
                <a:alpha val="26667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A417F0-DC49-4A2F-95BF-08A19B70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38675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23744"/>
                </a:solidFill>
              </a:defRPr>
            </a:pPr>
            <a:r>
              <a:rPr sz="975" b="1">
                <a:solidFill>
                  <a:srgbClr val="E23744"/>
                </a:solidFill>
              </a:rPr>
              <a:t>告警闭环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F8584E-DED8-4CA9-AA2A-E3F11E8C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085850"/>
            <a:ext cx="7829550" cy="453390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E4E903-826E-4A38-A809-8185AB3D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238250"/>
            <a:ext cx="7524750" cy="422910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19050">
            <a:solidFill>
              <a:srgbClr val="1F2A4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29307D-B8AF-4205-BCC1-93428BFA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43050"/>
            <a:ext cx="691515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B365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8A6240-4BE2-4919-AF11-8A167A6B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432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122B60-6628-4268-AFE4-3B7CFC97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67665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视频画面放置区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1ADCA1-4BE8-4B03-B782-93EC740D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114800"/>
            <a:ext cx="607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开场镜头：项目全景、设备亮相、主屏进入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2BA48B-7640-4721-A0C3-AF21B590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48250"/>
            <a:ext cx="6838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9AC7E1-FD65-4983-8153-A88B20D82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48250"/>
            <a:ext cx="1295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7D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022705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055C3B-8ED6-45D9-AEC5-5607C129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A1D529-47E2-434C-A416-B1305948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22E61"/>
                </a:solidFill>
              </a:defRPr>
            </a:pPr>
            <a:r>
              <a:rPr sz="3000" b="1">
                <a:solidFill>
                  <a:srgbClr val="222E61"/>
                </a:solidFill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D5275C-047A-4BDF-8DF5-A97901F7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2E61"/>
                </a:solidFill>
              </a:defRPr>
            </a:pPr>
            <a:r>
              <a:rPr sz="1350" b="1">
                <a:solidFill>
                  <a:srgbClr val="222E61"/>
                </a:solidFill>
              </a:rPr>
              <a:t>Care Scene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524127-2D29-4385-8927-F144AC60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982A6"/>
                </a:solidFill>
              </a:defRPr>
            </a:pPr>
            <a:r>
              <a:rPr sz="1050" b="1">
                <a:solidFill>
                  <a:srgbClr val="7982A6"/>
                </a:solidFill>
              </a:rPr>
              <a:t>Radar Care · 生命体征监测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EC4E60-0800-4512-8A80-04CBC2D2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5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69C006-F314-49EF-B5E1-8759DD42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3067050" cy="4229100"/>
          </a:xfrm>
          <a:prstGeom xmlns:a="http://schemas.openxmlformats.org/drawingml/2006/main" prst="roundRect">
            <a:avLst>
              <a:gd name="adj" fmla="val 74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FC6530-E40A-4704-BC51-10122FDB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325BF2">
              <a:alpha val="1215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4FB232-CF64-4B99-8FE1-37969E14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25BF2"/>
                </a:solidFill>
              </a:defRPr>
            </a:pPr>
            <a:r>
              <a:rPr sz="1275" b="1">
                <a:solidFill>
                  <a:srgbClr val="325BF2"/>
                </a:solidFill>
              </a:rPr>
              <a:t>RC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62278E-BC3F-4A17-A041-A56489EA7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2476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2E61"/>
                </a:solidFill>
              </a:defRPr>
            </a:pPr>
            <a:r>
              <a:rPr sz="2100" b="1">
                <a:solidFill>
                  <a:srgbClr val="222E61"/>
                </a:solidFill>
              </a:rPr>
              <a:t>护理人员只需要看清</a:t>
            </a:r>
          </a:p>
          <a:p xmlns:a="http://schemas.openxmlformats.org/drawingml/2006/main">
            <a:pPr>
              <a:defRPr sz="2100" b="1">
                <a:solidFill>
                  <a:srgbClr val="222E61"/>
                </a:solidFill>
              </a:defRPr>
            </a:pPr>
            <a:r>
              <a:rPr sz="2100" b="1">
                <a:solidFill>
                  <a:srgbClr val="222E61"/>
                </a:solidFill>
              </a:rPr>
              <a:t>哪张床正在出问题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284898-4EC0-490E-9FDD-632EFEF3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00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5B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ABD60D-EE62-44E2-8729-75713363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多床位统一监视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E245D6-5AEB-4B0F-8A47-6CDF6084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0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5B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85CEC9-11A1-4D71-8A70-12EE370AF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148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床位状态一眼判断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D6D0CF-9510-457F-8A7A-5389D2A7C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00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5B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B820AC-7F57-4711-B73F-026002B0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异常事件集中呈现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203C3A-827D-4AB6-8CA2-6A1A70B8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085850"/>
            <a:ext cx="7829550" cy="453390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CC1375-7339-440B-9D4D-D35D968FD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238250"/>
            <a:ext cx="7524750" cy="422910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19050">
            <a:solidFill>
              <a:srgbClr val="1F2A4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A92DFF-50CA-48E6-B703-3EE6150E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43050"/>
            <a:ext cx="691515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B365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4A4372-2675-4B87-BCFC-9EBB60AC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432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4FDCC6-9639-44B6-BF8B-92CCE5F2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67665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视频画面放置区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970C7D-FE2F-4F69-B2C7-093D5466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114800"/>
            <a:ext cx="607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录制护士站首页：展示正常、关注、紧急床位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E4C714-E76C-4150-8F16-7367B3C4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48250"/>
            <a:ext cx="6838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6494CB-D722-4BAA-B6B9-46FAE478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48250"/>
            <a:ext cx="1295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7D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38876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05AAF4-6497-4FCA-908D-12A6D235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086120-4DAB-4DA8-B9CA-F1A63821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22E61"/>
                </a:solidFill>
              </a:defRPr>
            </a:pPr>
            <a:r>
              <a:rPr sz="3000" b="1">
                <a:solidFill>
                  <a:srgbClr val="222E61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65A836-076F-4937-8711-3D547EB0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2E61"/>
                </a:solidFill>
              </a:defRPr>
            </a:pPr>
            <a:r>
              <a:rPr sz="1350" b="1">
                <a:solidFill>
                  <a:srgbClr val="222E61"/>
                </a:solidFill>
              </a:rPr>
              <a:t>Vitals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115F66-5F27-4E33-9AA7-8EBAC3978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982A6"/>
                </a:solidFill>
              </a:defRPr>
            </a:pPr>
            <a:r>
              <a:rPr sz="1050" b="1">
                <a:solidFill>
                  <a:srgbClr val="7982A6"/>
                </a:solidFill>
              </a:rPr>
              <a:t>Radar Care · 生命体征监测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26D611-C600-47A2-BB36-35D246EF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5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238DFA-90E7-4FDE-A376-8EBC0A7E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3067050" cy="4229100"/>
          </a:xfrm>
          <a:prstGeom xmlns:a="http://schemas.openxmlformats.org/drawingml/2006/main" prst="roundRect">
            <a:avLst>
              <a:gd name="adj" fmla="val 74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538195-B704-4EEC-A536-E72B463A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2C7DF">
              <a:alpha val="1215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B84DDB-F516-4D0A-85B8-7AAB56FE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2C7DF"/>
                </a:solidFill>
              </a:defRPr>
            </a:pPr>
            <a:r>
              <a:rPr sz="1275" b="1">
                <a:solidFill>
                  <a:srgbClr val="42C7DF"/>
                </a:solidFill>
              </a:rPr>
              <a:t>RC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9730B8-4026-4F3A-A1B7-D967874A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2476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2E61"/>
                </a:solidFill>
              </a:defRPr>
            </a:pPr>
            <a:r>
              <a:rPr sz="2100" b="1">
                <a:solidFill>
                  <a:srgbClr val="222E61"/>
                </a:solidFill>
              </a:rPr>
              <a:t>生命体征和呼噜信号</a:t>
            </a:r>
          </a:p>
          <a:p xmlns:a="http://schemas.openxmlformats.org/drawingml/2006/main">
            <a:pPr>
              <a:defRPr sz="2100" b="1">
                <a:solidFill>
                  <a:srgbClr val="222E61"/>
                </a:solidFill>
              </a:defRPr>
            </a:pPr>
            <a:r>
              <a:rPr sz="2100" b="1">
                <a:solidFill>
                  <a:srgbClr val="222E61"/>
                </a:solidFill>
              </a:rPr>
              <a:t>同步进入驾驶舱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1E84BF-C6DB-4C93-95B3-ACC6B172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00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C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E0DC94-C7AC-4087-A5BA-EC4CD205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雷达无接触生命体征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BFE2F4-69A2-4ADE-AB40-23BD5695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0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C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20098E-1076-414B-8801-63E97820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148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呼噜强度实时变化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019523-8CB2-42B7-96B4-3E6FE93A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00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C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B61052-AF59-47DC-94EA-6F05C233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短暂抖动不误判离线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DAE0F4-7320-49BE-A2EE-FE8815EA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085850"/>
            <a:ext cx="7829550" cy="453390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56B9FE-186D-4D8A-95BF-90E14BE0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238250"/>
            <a:ext cx="7524750" cy="422910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19050">
            <a:solidFill>
              <a:srgbClr val="1F2A4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38CA25-5826-47FE-92C0-F0C752D3E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43050"/>
            <a:ext cx="691515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B365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BA593A-2A3F-4CE9-8C87-4B14C2C8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432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A6CAED-B538-467C-9245-9B8E9839F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67665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视频画面放置区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B398F2-00B6-4A00-A692-EF9DD758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114800"/>
            <a:ext cx="607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录制生命体征页：心率、呼吸率、呼噜趋势实时刷新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302ED2-9ABB-45AD-B30E-15E42489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48250"/>
            <a:ext cx="6838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5D6DBF-13D9-42DF-85F5-FE2FB9BF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48250"/>
            <a:ext cx="1295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7D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1293560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F8E14A-D727-4D08-BA93-FA4FC51B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5E1737-7E52-4BA9-B6B3-1FE7EF3BA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22E61"/>
                </a:solidFill>
              </a:defRPr>
            </a:pPr>
            <a:r>
              <a:rPr sz="3000" b="1">
                <a:solidFill>
                  <a:srgbClr val="222E61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7AD10E-D0A5-47B7-82A9-D836B566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2E61"/>
                </a:solidFill>
              </a:defRPr>
            </a:pPr>
            <a:r>
              <a:rPr sz="1350" b="1">
                <a:solidFill>
                  <a:srgbClr val="222E61"/>
                </a:solidFill>
              </a:rPr>
              <a:t>Environment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A79AAF-2E75-484F-91E4-05D566122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982A6"/>
                </a:solidFill>
              </a:defRPr>
            </a:pPr>
            <a:r>
              <a:rPr sz="1050" b="1">
                <a:solidFill>
                  <a:srgbClr val="7982A6"/>
                </a:solidFill>
              </a:rPr>
              <a:t>Radar Care · 生命体征监测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10AB43-5C84-41F3-8101-1EE8CCA1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5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878C37-FB0E-417B-9445-C3FC58AB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3067050" cy="4229100"/>
          </a:xfrm>
          <a:prstGeom xmlns:a="http://schemas.openxmlformats.org/drawingml/2006/main" prst="roundRect">
            <a:avLst>
              <a:gd name="adj" fmla="val 74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E45385-B97A-45D1-B2EC-6F69CAC7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E9B2D">
              <a:alpha val="1215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02A621-D46E-44F8-8E6F-9CB47908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E9B2D"/>
                </a:solidFill>
              </a:defRPr>
            </a:pPr>
            <a:r>
              <a:rPr sz="1275" b="1">
                <a:solidFill>
                  <a:srgbClr val="EE9B2D"/>
                </a:solidFill>
              </a:rPr>
              <a:t>RC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EDACDF-1D54-4430-B772-3D5F5EBF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2476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2E61"/>
                </a:solidFill>
              </a:defRPr>
            </a:pPr>
            <a:r>
              <a:rPr sz="2100" b="1">
                <a:solidFill>
                  <a:srgbClr val="222E61"/>
                </a:solidFill>
              </a:rPr>
              <a:t>环境数据帮助判断</a:t>
            </a:r>
          </a:p>
          <a:p xmlns:a="http://schemas.openxmlformats.org/drawingml/2006/main">
            <a:pPr>
              <a:defRPr sz="2100" b="1">
                <a:solidFill>
                  <a:srgbClr val="222E61"/>
                </a:solidFill>
              </a:defRPr>
            </a:pPr>
            <a:r>
              <a:rPr sz="2100" b="1">
                <a:solidFill>
                  <a:srgbClr val="222E61"/>
                </a:solidFill>
              </a:rPr>
              <a:t>睡眠舒适度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0CF7AD-443F-473C-8827-21B5B1FC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00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9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3DFAF2-B53A-4269-8892-0BE080B0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温湿度持续上报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083661-D484-4F04-90C0-1F321E17D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0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9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971CEE-14F2-4D27-BC6E-CEDF7F3F9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148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环境声音趋势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B2D38C-8BF0-4BFA-8EB2-5F9505B0E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00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9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8AA8E9-2480-4807-990C-307A4851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舒适度评分提示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B5407C-15D6-4331-9163-93232ADC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085850"/>
            <a:ext cx="7829550" cy="453390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CD87A4-26B0-485A-947E-1EE96CB4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238250"/>
            <a:ext cx="7524750" cy="422910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19050">
            <a:solidFill>
              <a:srgbClr val="1F2A4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6671AD-528F-4D0D-BE9E-6F6DA40ED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43050"/>
            <a:ext cx="691515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B365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917BFB-833C-4E72-ADC9-CBB2DE90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432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DCCEEB-781C-4DC8-9C88-1AB1548D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67665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视频画面放置区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897385-A9EB-412B-AD5D-3117F2EC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114800"/>
            <a:ext cx="607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录制睡眠环境分析：温度、湿度、声音数据同步变化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629017-2300-4633-AD47-2B4AF407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48250"/>
            <a:ext cx="6838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25E2F5-1F84-4EAD-93CA-F8FE304C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48250"/>
            <a:ext cx="1295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7D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8394376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0CBD9A-B505-4BD6-9F32-C4366FA4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D7CF5A-1F78-4936-9573-109E25D0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22E61"/>
                </a:solidFill>
              </a:defRPr>
            </a:pPr>
            <a:r>
              <a:rPr sz="3000" b="1">
                <a:solidFill>
                  <a:srgbClr val="222E61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9DA5BB-1BA6-4079-A86F-A6FD2C54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2E61"/>
                </a:solidFill>
              </a:defRPr>
            </a:pPr>
            <a:r>
              <a:rPr sz="1350" b="1">
                <a:solidFill>
                  <a:srgbClr val="222E61"/>
                </a:solidFill>
              </a:rPr>
              <a:t>Guard Mode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01A416-03DC-4BD8-9A5B-6AD9E9FB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982A6"/>
                </a:solidFill>
              </a:defRPr>
            </a:pPr>
            <a:r>
              <a:rPr sz="1050" b="1">
                <a:solidFill>
                  <a:srgbClr val="7982A6"/>
                </a:solidFill>
              </a:rPr>
              <a:t>Radar Care · 生命体征监测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7C7737-11ED-4240-87EF-FD5FA3F9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5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9865FE-2DC7-4246-B935-4D362063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3067050" cy="4229100"/>
          </a:xfrm>
          <a:prstGeom xmlns:a="http://schemas.openxmlformats.org/drawingml/2006/main" prst="roundRect">
            <a:avLst>
              <a:gd name="adj" fmla="val 74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5DB927-C065-48D7-8823-816ED1AA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7B36A">
              <a:alpha val="1215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9C2942-1B09-4B81-8DC5-CA9EB1B8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7B36A"/>
                </a:solidFill>
              </a:defRPr>
            </a:pPr>
            <a:r>
              <a:rPr sz="1275" b="1">
                <a:solidFill>
                  <a:srgbClr val="27B36A"/>
                </a:solidFill>
              </a:rPr>
              <a:t>RC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58A029-4214-4AF2-AF88-9855A1E5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2476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2E61"/>
                </a:solidFill>
              </a:defRPr>
            </a:pPr>
            <a:r>
              <a:rPr sz="2100" b="1">
                <a:solidFill>
                  <a:srgbClr val="222E61"/>
                </a:solidFill>
              </a:rPr>
              <a:t>小智终端默认守护</a:t>
            </a:r>
          </a:p>
          <a:p xmlns:a="http://schemas.openxmlformats.org/drawingml/2006/main">
            <a:pPr>
              <a:defRPr sz="2100" b="1">
                <a:solidFill>
                  <a:srgbClr val="222E61"/>
                </a:solidFill>
              </a:defRPr>
            </a:pPr>
            <a:r>
              <a:rPr sz="2100" b="1">
                <a:solidFill>
                  <a:srgbClr val="222E61"/>
                </a:solidFill>
              </a:rPr>
              <a:t>呼噜和求助不中断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D1CC0A-FC68-4D04-ADE2-CA08D923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00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B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13DABB-0840-476F-86FF-C54B035E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守护模式在线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55B6D6-5028-42A0-952E-E99B79BC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0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B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6045E0-A32C-4C28-8962-75A10A00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148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本地呼噜检测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11BCA4-4829-423D-9326-9477B7ABD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00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B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3261CE-0B55-4A81-A948-87CECC822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求助语音触发 SOS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B2731F-C121-4A59-836B-5F512396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085850"/>
            <a:ext cx="7829550" cy="453390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1FDBED-766D-4437-AC32-E1D84D50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238250"/>
            <a:ext cx="7524750" cy="422910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19050">
            <a:solidFill>
              <a:srgbClr val="1F2A4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E52255-73BB-42FF-A442-508AA08A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43050"/>
            <a:ext cx="691515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B365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86F8A3-9791-422C-B233-0657E92F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432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2D229E-6661-499D-A0C0-337875E6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67665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视频画面放置区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A7C30E-6316-40FC-B334-9DAD8011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114800"/>
            <a:ext cx="607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录制开发板屏幕：守护模式在线、呼噜检测、时间显示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85872C-0F23-4752-84BA-4E209C2D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48250"/>
            <a:ext cx="6838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362D2C-2702-4C2C-800E-1C04FC2E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48250"/>
            <a:ext cx="1295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7D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9894042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010643-8189-4B41-96E5-38334D6EE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740769-CE44-4F39-AC91-AAF0E467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22E61"/>
                </a:solidFill>
              </a:defRPr>
            </a:pPr>
            <a:r>
              <a:rPr sz="3000" b="1">
                <a:solidFill>
                  <a:srgbClr val="222E61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369E87-73E1-4C02-A2FD-8E2F5FFC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2E61"/>
                </a:solidFill>
              </a:defRPr>
            </a:pPr>
            <a:r>
              <a:rPr sz="1350" b="1">
                <a:solidFill>
                  <a:srgbClr val="222E61"/>
                </a:solidFill>
              </a:rPr>
              <a:t>Emergency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50AA28-85C9-4D91-BC5C-C302F81E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982A6"/>
                </a:solidFill>
              </a:defRPr>
            </a:pPr>
            <a:r>
              <a:rPr sz="1050" b="1">
                <a:solidFill>
                  <a:srgbClr val="7982A6"/>
                </a:solidFill>
              </a:rPr>
              <a:t>Radar Care · 生命体征监测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CE23A1-72E4-4808-AF75-3851B46D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5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9E9366-8291-46EC-BB3F-4E31333E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3067050" cy="4229100"/>
          </a:xfrm>
          <a:prstGeom xmlns:a="http://schemas.openxmlformats.org/drawingml/2006/main" prst="roundRect">
            <a:avLst>
              <a:gd name="adj" fmla="val 74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A68018-816F-4542-99EB-86B74CCD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23744">
              <a:alpha val="1215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FC6EB6-540B-47E1-9963-866ED5B7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23744"/>
                </a:solidFill>
              </a:defRPr>
            </a:pPr>
            <a:r>
              <a:rPr sz="1275" b="1">
                <a:solidFill>
                  <a:srgbClr val="E23744"/>
                </a:solidFill>
              </a:rPr>
              <a:t>RC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709F00-7050-41D6-B09E-73CB010D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2476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2E61"/>
                </a:solidFill>
              </a:defRPr>
            </a:pPr>
            <a:r>
              <a:rPr sz="2100" b="1">
                <a:solidFill>
                  <a:srgbClr val="222E61"/>
                </a:solidFill>
              </a:rPr>
              <a:t>紧急事件从开发板</a:t>
            </a:r>
          </a:p>
          <a:p xmlns:a="http://schemas.openxmlformats.org/drawingml/2006/main">
            <a:pPr>
              <a:defRPr sz="2100" b="1">
                <a:solidFill>
                  <a:srgbClr val="222E61"/>
                </a:solidFill>
              </a:defRPr>
            </a:pPr>
            <a:r>
              <a:rPr sz="2100" b="1">
                <a:solidFill>
                  <a:srgbClr val="222E61"/>
                </a:solidFill>
              </a:rPr>
              <a:t>同步到前端处理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CEF135-6167-49F6-8886-10BD481A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00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37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EEE291-7E29-4F7B-BDBB-E5255DAC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语音求助或跌落触发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DA75F3-3846-4CB7-BB4E-7818B932A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0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37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D6121B-AA7E-44E6-942A-02BEDFD5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148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大屏标红并语音播报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113DD9-F9E8-416D-9B92-B0B0502F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00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37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D50A29-B279-45DE-82C3-8223C741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处理后全端解除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699562-B043-4A5B-BEAE-342D2664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085850"/>
            <a:ext cx="7829550" cy="453390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BFF2BD-B317-4F02-895C-0DC345C1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238250"/>
            <a:ext cx="7524750" cy="422910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19050">
            <a:solidFill>
              <a:srgbClr val="1F2A4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075860-829C-4A8F-95B6-D2B8052A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43050"/>
            <a:ext cx="691515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B365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ABA700-1B93-41C6-89FF-B35B7BC7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432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A06A10-17F8-4728-916D-18B97007F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67665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视频画面放置区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95ED5F-CEBB-4E75-83DE-3A457949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114800"/>
            <a:ext cx="607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录制 SOS 闭环：触发告警、前端弹窗、确认处理、状态恢复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FC608E-8BE6-4BCC-9A02-4C744095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48250"/>
            <a:ext cx="6838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2D7F41-8452-4BDE-9CCC-E89B5FE6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48250"/>
            <a:ext cx="1295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7D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962293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98AA8C-DD73-438F-AD37-7AC8752B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512419-CB5F-454B-8444-3A05FB36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22E61"/>
                </a:solidFill>
              </a:defRPr>
            </a:pPr>
            <a:r>
              <a:rPr sz="3000" b="1">
                <a:solidFill>
                  <a:srgbClr val="222E61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D9C9F0-E08A-4960-9193-1B30EF44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2E61"/>
                </a:solidFill>
              </a:defRPr>
            </a:pPr>
            <a:r>
              <a:rPr sz="1350" b="1">
                <a:solidFill>
                  <a:srgbClr val="222E61"/>
                </a:solidFill>
              </a:rPr>
              <a:t>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666C29-E31D-4C3E-853A-F9BCEF3CB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982A6"/>
                </a:solidFill>
              </a:defRPr>
            </a:pPr>
            <a:r>
              <a:rPr sz="1050" b="1">
                <a:solidFill>
                  <a:srgbClr val="7982A6"/>
                </a:solidFill>
              </a:rPr>
              <a:t>Radar Care · 生命体征监测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D80307-29A1-4C50-AC11-84B023AE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5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9E1498-FF2E-4DDA-87E9-A59206DF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3067050" cy="4229100"/>
          </a:xfrm>
          <a:prstGeom xmlns:a="http://schemas.openxmlformats.org/drawingml/2006/main" prst="roundRect">
            <a:avLst>
              <a:gd name="adj" fmla="val 74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4D9354-515F-40EC-9BDB-F779FCB3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325BF2">
              <a:alpha val="1215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764D99-B6BE-41C9-8158-5EC797ED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25BF2"/>
                </a:solidFill>
              </a:defRPr>
            </a:pPr>
            <a:r>
              <a:rPr sz="1275" b="1">
                <a:solidFill>
                  <a:srgbClr val="325BF2"/>
                </a:solidFill>
              </a:rPr>
              <a:t>RC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C111B7-097D-40C0-BB3C-4A747679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2476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2E61"/>
                </a:solidFill>
              </a:defRPr>
            </a:pPr>
            <a:r>
              <a:rPr sz="2100" b="1">
                <a:solidFill>
                  <a:srgbClr val="222E61"/>
                </a:solidFill>
              </a:rPr>
              <a:t>真实后端把雷达、小智</a:t>
            </a:r>
          </a:p>
          <a:p xmlns:a="http://schemas.openxmlformats.org/drawingml/2006/main">
            <a:pPr>
              <a:defRPr sz="2100" b="1">
                <a:solidFill>
                  <a:srgbClr val="222E61"/>
                </a:solidFill>
              </a:defRPr>
            </a:pPr>
            <a:r>
              <a:rPr sz="2100" b="1">
                <a:solidFill>
                  <a:srgbClr val="222E61"/>
                </a:solidFill>
              </a:rPr>
              <a:t>和移动端连成闭环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7DE886-5C33-4E60-BDE2-DC2E0844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00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5B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95EF24-C818-4D39-BA16-A509D524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UDP 雷达数据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111222-716C-4020-9131-00077F90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0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5B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C177CC-4F32-4F80-9976-E8EE01C2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148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HTTP 设备心跳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742F3A-6997-4908-A69C-FB982948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00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5B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F56331-A819-4761-BC8F-4A6701FF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Web 与 Android 同步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9E13F3-FB76-432C-8EFD-93629CE9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085850"/>
            <a:ext cx="7829550" cy="453390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EBC9DA-9BF3-4AF6-85B3-C9998EA1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238250"/>
            <a:ext cx="7524750" cy="422910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19050">
            <a:solidFill>
              <a:srgbClr val="1F2A4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7A0391-EB1F-4602-B85C-4433D780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43050"/>
            <a:ext cx="691515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B365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4A00DD-CF8B-448D-B396-661A6D80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432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F206DF-F07B-4B06-BD7F-F5CDCE5D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67665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视频画面放置区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C8AE40-F8F0-4857-BC4E-F9A550C9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114800"/>
            <a:ext cx="607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录制接口联动：后端运行、设备在线、移动端/网页同步刷新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D0A064-CC24-4077-82B6-A5D041EBF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48250"/>
            <a:ext cx="6838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7BF01E-E97B-4B60-9FBE-B1E18D35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48250"/>
            <a:ext cx="1295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7D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7619525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216877-53EF-42B2-A382-552EB2A3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8C8D93-C084-4FAB-9C38-C19B3BE4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22E61"/>
                </a:solidFill>
              </a:defRPr>
            </a:pPr>
            <a:r>
              <a:rPr sz="3000" b="1">
                <a:solidFill>
                  <a:srgbClr val="222E61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B02706-8651-4C00-8808-63BDA225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2E61"/>
                </a:solidFill>
              </a:defRPr>
            </a:pPr>
            <a:r>
              <a:rPr sz="1350" b="1">
                <a:solidFill>
                  <a:srgbClr val="222E61"/>
                </a:solidFill>
              </a:rPr>
              <a:t>Close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0499C8-AE91-49E5-9944-D29D9417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982A6"/>
                </a:solidFill>
              </a:defRPr>
            </a:pPr>
            <a:r>
              <a:rPr sz="1050" b="1">
                <a:solidFill>
                  <a:srgbClr val="7982A6"/>
                </a:solidFill>
              </a:rPr>
              <a:t>Radar Care · 生命体征监测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D2371E-ED91-48A8-BBA1-6E9A7840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5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A26951-2DFA-4378-91F6-7AD7A396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3067050" cy="4229100"/>
          </a:xfrm>
          <a:prstGeom xmlns:a="http://schemas.openxmlformats.org/drawingml/2006/main" prst="roundRect">
            <a:avLst>
              <a:gd name="adj" fmla="val 74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545026-1299-4A30-B632-1602B5F4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7B36A">
              <a:alpha val="1215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B3ACCE-E638-4BA2-B89D-4E36467F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7B36A"/>
                </a:solidFill>
              </a:defRPr>
            </a:pPr>
            <a:r>
              <a:rPr sz="1275" b="1">
                <a:solidFill>
                  <a:srgbClr val="27B36A"/>
                </a:solidFill>
              </a:rPr>
              <a:t>RC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309BA6-BF65-47E2-8513-892B21FE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2476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2E61"/>
                </a:solidFill>
              </a:defRPr>
            </a:pPr>
            <a:r>
              <a:rPr sz="2100" b="1">
                <a:solidFill>
                  <a:srgbClr val="222E61"/>
                </a:solidFill>
              </a:rPr>
              <a:t>监测不打扰睡眠</a:t>
            </a:r>
          </a:p>
          <a:p xmlns:a="http://schemas.openxmlformats.org/drawingml/2006/main">
            <a:pPr>
              <a:defRPr sz="2100" b="1">
                <a:solidFill>
                  <a:srgbClr val="222E61"/>
                </a:solidFill>
              </a:defRPr>
            </a:pPr>
            <a:r>
              <a:rPr sz="2100" b="1">
                <a:solidFill>
                  <a:srgbClr val="222E61"/>
                </a:solidFill>
              </a:rPr>
              <a:t>求助能及时听见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C3494F-F552-424D-ADF8-FE20C919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00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B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0D127F-DC1F-42D3-B880-ABDFD4675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适合医院与养老院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D4C83A-F795-4FD1-B0A3-840435EF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0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B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A408E4-BF72-411B-AF1E-A69359C5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148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支持多套设备扩展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316356-2F98-4BE9-824C-21C81A79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00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B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4B216E-EC87-457B-ADD5-28B6AFC5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可演示、可部署、可迭代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5C3C47-C5B3-4208-8FD4-5D035DE6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085850"/>
            <a:ext cx="7829550" cy="453390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A30176-8C44-463F-834D-6C1FE054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238250"/>
            <a:ext cx="7524750" cy="422910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19050">
            <a:solidFill>
              <a:srgbClr val="1F2A4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BD8DE8-6838-4D72-BBC4-C16588B3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43050"/>
            <a:ext cx="691515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B365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C8B231-9528-4BF4-B84D-3DB6E47A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432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95B390-793B-4E56-9AD6-ECD1FD9B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67665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视频画面放置区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C83E88-34C9-4028-93D9-BAFBC131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114800"/>
            <a:ext cx="607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结尾镜头：护士站大屏、Android、开发板同框展示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BDE56B-8DD1-4FF4-90F6-ADA809DB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48250"/>
            <a:ext cx="6838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A15FDB-83FE-4535-8780-64E1EB13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48250"/>
            <a:ext cx="1295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7D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550869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2026-07-04T02:32:22.0600000Z</dcterms:created>
  <dcterms:modified xsi:type="dcterms:W3CDTF">2026-07-04T02:32:22.0600000Z</dcterms:modified>
</coreProperties>
</file>